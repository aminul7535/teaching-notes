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6895" y="0"/>
            <a:ext cx="914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8335" y="2103120"/>
            <a:ext cx="4023360" cy="2377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Calibri"/>
              </a:rPr>
              <a:t>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4297680"/>
            <a:ext cx="4023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 i="0">
                <a:solidFill>
                  <a:srgbClr val="BFD6EE"/>
                </a:solidFill>
                <a:latin typeface="Consolas"/>
              </a:rPr>
              <a:t>cout &lt;&lt; "Hello, World";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CLASS XI  •  COMPUTER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65960"/>
            <a:ext cx="7498079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Unit 2: Introduction to C++</a:t>
            </a:r>
          </a:p>
          <a:p>
            <a:pPr algn="l"/>
            <a:r>
              <a:rPr sz="3000" b="1" i="0">
                <a:solidFill>
                  <a:srgbClr val="9EC5E8"/>
                </a:solidFill>
                <a:latin typeface="Calibri"/>
              </a:rPr>
              <a:t>Part 1 — Getting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73152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1">
                <a:solidFill>
                  <a:srgbClr val="CFDDEC"/>
                </a:solidFill>
                <a:latin typeface="Calibri"/>
              </a:rPr>
              <a:t>A first look at programming with C++</a:t>
            </a:r>
          </a:p>
          <a:p>
            <a:pPr algn="l"/>
            <a:r>
              <a:rPr sz="1400" b="0" i="0">
                <a:solidFill>
                  <a:srgbClr val="B9CADD"/>
                </a:solidFill>
                <a:latin typeface="Calibri"/>
              </a:rPr>
              <a:t>Assam Higher Secondary First Year (AHSEC)</a:t>
            </a:r>
          </a:p>
          <a:p>
            <a:pPr algn="l"/>
            <a:r>
              <a:rPr sz="1300" b="0" i="0">
                <a:solidFill>
                  <a:srgbClr val="9FB4CB"/>
                </a:solidFill>
                <a:latin typeface="Calibri"/>
              </a:rPr>
              <a:t>For students learning programming for the very first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LESSON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You Will Learn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What C++ is, and a short history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The C++ character set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Tokens: identifiers, keywords, constants, operators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Structure of a C++ program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Header files: iostream.h and iomanip.h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Output with cout and input with cin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Operators &lt;&lt; and &gt;&gt;, endl, setw()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Cascading of input / output operators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Editor, Compilation, Linking, Execution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</a:t>
            </a:r>
            <a:r>
              <a:rPr sz="1700" b="0">
                <a:solidFill>
                  <a:srgbClr val="1A202C"/>
                </a:solidFill>
                <a:latin typeface="Calibri"/>
              </a:rPr>
              <a:t>Types of error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8992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Goal:  By the end, you will be able to read, write and run a simple C++ program with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Introduction to C++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675120" cy="8686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63093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50" b="1" i="0">
                <a:solidFill>
                  <a:srgbClr val="0B2A4A"/>
                </a:solidFill>
                <a:latin typeface="Calibri"/>
              </a:rPr>
              <a:t>C++ is a high-level, general-purpose programming language used to write instructions for a computer.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</a:t>
            </a:r>
            <a:r>
              <a:rPr sz="1550" b="0">
                <a:solidFill>
                  <a:srgbClr val="1A202C"/>
                </a:solidFill>
                <a:latin typeface="Calibri"/>
              </a:rPr>
              <a:t>Developed by Bjarne Stroustrup at Bell Labs, USA.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</a:t>
            </a:r>
            <a:r>
              <a:rPr sz="1550" b="0">
                <a:solidFill>
                  <a:srgbClr val="1A202C"/>
                </a:solidFill>
                <a:latin typeface="Calibri"/>
              </a:rPr>
              <a:t>First created in 1979; named "C++" in 1983.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</a:t>
            </a:r>
            <a:r>
              <a:rPr sz="1550" b="0">
                <a:solidFill>
                  <a:srgbClr val="1A202C"/>
                </a:solidFill>
                <a:latin typeface="Calibri"/>
              </a:rPr>
              <a:t>Old name was "C with Classes".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</a:t>
            </a:r>
            <a:r>
              <a:rPr sz="1550" b="0">
                <a:solidFill>
                  <a:srgbClr val="1A202C"/>
                </a:solidFill>
                <a:latin typeface="Calibri"/>
              </a:rPr>
              <a:t>C++ is an extension (superset) of the C language.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</a:t>
            </a:r>
            <a:r>
              <a:rPr sz="1550" b="0">
                <a:solidFill>
                  <a:srgbClr val="1A202C"/>
                </a:solidFill>
                <a:latin typeface="Calibri"/>
              </a:rPr>
              <a:t>The ++ means "one more than C" (C incremented).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59E0B"/>
                </a:solidFill>
                <a:latin typeface="Calibri"/>
              </a:rPr>
              <a:t>•  </a:t>
            </a:r>
            <a:r>
              <a:rPr sz="1550" b="0">
                <a:solidFill>
                  <a:srgbClr val="1A202C"/>
                </a:solidFill>
                <a:latin typeface="Calibri"/>
              </a:rPr>
              <a:t>Used for games, apps, browsers and system software.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63040"/>
            <a:ext cx="3977639" cy="429768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463040"/>
            <a:ext cx="3977639" cy="4572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463040"/>
            <a:ext cx="3977639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QUICK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3566160" cy="3657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Calibri"/>
              </a:rPr>
              <a:t>Creator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Bjarne Stroustrup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Calibri"/>
              </a:rPr>
              <a:t>Year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1979 (named 1983)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Calibri"/>
              </a:rPr>
              <a:t>Place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Bell Laboratories, USA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Calibri"/>
              </a:rPr>
              <a:t>Based on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C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C++ Character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5A6778"/>
                </a:solidFill>
                <a:latin typeface="Calibri"/>
              </a:rPr>
              <a:t>Character set = the complete group of characters that C++ understands and lets us use in a program.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3210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Characters Allowed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202C"/>
                          </a:solidFill>
                          <a:latin typeface="Calibri"/>
                        </a:rPr>
                        <a:t>Letters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A - Z  (capital)   and   a - z  (small)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202C"/>
                          </a:solidFill>
                          <a:latin typeface="Calibri"/>
                        </a:rPr>
                        <a:t>Digits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0  1  2  3  4  5  6  7  8  9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202C"/>
                          </a:solidFill>
                          <a:latin typeface="Calibri"/>
                        </a:rPr>
                        <a:t>Special Symbols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+  -  *  /  %  =  &lt; &gt;  ( )  { }  [ ]  ;  ,  .  "  '  #  &amp;  |  _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202C"/>
                          </a:solidFill>
                          <a:latin typeface="Calibri"/>
                        </a:rPr>
                        <a:t>White Spaces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Blank space, Tab, New line (Enter)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</a:t>
            </a:r>
            <a:r>
              <a:rPr sz="1400" b="0">
                <a:solidFill>
                  <a:srgbClr val="0B2A4A"/>
                </a:solidFill>
                <a:latin typeface="Calibri"/>
              </a:rPr>
              <a:t>C++ is case-sensitive:  'A' and 'a' are treated as different.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</a:t>
            </a:r>
            <a:r>
              <a:rPr sz="1400" b="0">
                <a:solidFill>
                  <a:srgbClr val="0B2A4A"/>
                </a:solidFill>
                <a:latin typeface="Calibri"/>
              </a:rPr>
              <a:t>White spaces separate words but are ignored during execution.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C++ Tokens — The Building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5A6778"/>
                </a:solidFill>
                <a:latin typeface="Calibri"/>
              </a:rPr>
              <a:t>A token is the smallest individual (meaningful) unit of a C++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2084831" cy="233172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2084831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24912"/>
            <a:ext cx="2084831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Keywords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90195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Reserved words
int, float, 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3" y="1965960"/>
            <a:ext cx="2084831" cy="2331720"/>
          </a:xfrm>
          <a:prstGeom prst="roundRect">
            <a:avLst>
              <a:gd name="adj" fmla="val 6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3" y="2084831"/>
            <a:ext cx="2084831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3" y="2724912"/>
            <a:ext cx="2084831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Identifiers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3" y="3200400"/>
            <a:ext cx="190195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Names we give
sum, 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6" y="1965960"/>
            <a:ext cx="2084831" cy="2331720"/>
          </a:xfrm>
          <a:prstGeom prst="roundRect">
            <a:avLst>
              <a:gd name="adj" fmla="val 6000"/>
            </a:avLst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6" y="2084831"/>
            <a:ext cx="2084831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6" y="2724912"/>
            <a:ext cx="2084831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Constants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6" y="3200400"/>
            <a:ext cx="190195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Fixed values
10, 3.14, 'A'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09" y="1965960"/>
            <a:ext cx="2084831" cy="23317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09" y="2084831"/>
            <a:ext cx="2084831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09" y="2724912"/>
            <a:ext cx="2084831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49" y="3200400"/>
            <a:ext cx="190195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Action symbols
+  -  *  /  =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2" y="1965960"/>
            <a:ext cx="2084831" cy="2331720"/>
          </a:xfrm>
          <a:prstGeom prst="roundRect">
            <a:avLst>
              <a:gd name="adj" fmla="val 6000"/>
            </a:avLst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2" y="2084831"/>
            <a:ext cx="2084831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2" y="2724912"/>
            <a:ext cx="2084831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Punctuators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2" y="3200400"/>
            <a:ext cx="1901951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Separators
;   { }   ( 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0B2A4A"/>
                </a:solidFill>
                <a:latin typeface="Calibri"/>
              </a:rPr>
              <a:t>Example — every part of  int sum = a + b;  is a token: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int → keyword    •    sum, a, b → identifiers</a:t>
            </a: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= , + → operators    •    ; → punctuator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TOKENS 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Identifiers &amp; Keywords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486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IDENTIFIERS  (names we create)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Must begin with a letter or underscore _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May contain letters, digits, underscore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No blank spaces, no special symbols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A keyword cannot be an identifier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886200"/>
          <a:ext cx="548640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Valid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Invalid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2total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_marks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my marks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roll_no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sum-1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60" y="1417320"/>
            <a:ext cx="5303520" cy="384048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53035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KEYWORDS  (reserved words)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Meaning is already fixed in C++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Always written in lower case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1A202C"/>
                </a:solidFill>
                <a:latin typeface="Calibri"/>
              </a:rPr>
              <a:t>Cannot be used as variable names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3657600"/>
          <a:ext cx="5294376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4792"/>
                <a:gridCol w="1764792"/>
                <a:gridCol w="1764792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Common Keywords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char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else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void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const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return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double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while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TOKENS 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Constants &amp; Operators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4864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CONSTANTS  (fixed values)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20240"/>
          <a:ext cx="54864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10 , -45 , 0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Floating point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3.14 , -0.5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Character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'A' , '5'  (single quotes)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"Hello"  (double quotes)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38912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521208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B2A4A"/>
                </a:solidFill>
                <a:latin typeface="Calibri"/>
              </a:rPr>
              <a:t>Remember the quotes!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02C"/>
                </a:solidFill>
                <a:latin typeface="Consolas"/>
              </a:rPr>
              <a:t>'A'  →  one character</a:t>
            </a:r>
          </a:p>
          <a:p>
            <a:pPr algn="l"/>
            <a:r>
              <a:rPr sz="1300" b="0" i="0">
                <a:solidFill>
                  <a:srgbClr val="1A202C"/>
                </a:solidFill>
                <a:latin typeface="Consolas"/>
              </a:rPr>
              <a:t>"A"  →  a 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03520" cy="3840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3035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OPERATORS  (action symbols)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1920240"/>
          <a:ext cx="530352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834640"/>
              </a:tblGrid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Symbols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+  -  *  /  %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Relational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&lt;  &gt;  &lt;=  &gt;=  ==  !=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Logical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&amp;&amp;   ||   !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Assignment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=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02C"/>
                          </a:solidFill>
                          <a:latin typeface="Calibri"/>
                        </a:rPr>
                        <a:t>Increment / Decrement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++   --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09360" y="475488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50292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0B2A4A"/>
                </a:solidFill>
                <a:latin typeface="Calibri"/>
              </a:rPr>
              <a:t>An operator works on operands.
In a + b, the + is the operator; a and b are operands.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Structure of a C++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6126480" cy="3383280"/>
          </a:xfrm>
          <a:prstGeom prst="roundRect">
            <a:avLst>
              <a:gd name="adj" fmla="val 60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5760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8BA6C9"/>
                </a:solidFill>
                <a:latin typeface="Consolas"/>
              </a:rPr>
              <a:t>‹/›  Basic Skeleton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92808"/>
            <a:ext cx="572414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#include&lt;iostream.h&gt;   // header file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void main()            // main function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    cout &lt;&lt; "Hello";    // statement</a:t>
            </a:r>
          </a:p>
          <a:p>
            <a:pPr>
              <a:spcAft>
                <a:spcPts val="100"/>
              </a:spcAft>
            </a:pPr>
            <a:r>
              <a:rPr sz="15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55448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</a:t>
            </a:r>
            <a:r>
              <a:rPr sz="1400" b="1">
                <a:solidFill>
                  <a:srgbClr val="1A202C"/>
                </a:solidFill>
                <a:latin typeface="Calibri"/>
              </a:rPr>
              <a:t>Header file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E9E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1A202C"/>
                </a:solidFill>
                <a:latin typeface="Calibri"/>
              </a:rPr>
              <a:t>brings in ready-made features (cout, cin)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</a:t>
            </a:r>
            <a:r>
              <a:rPr sz="1400" b="1">
                <a:solidFill>
                  <a:srgbClr val="1A202C"/>
                </a:solidFill>
                <a:latin typeface="Calibri"/>
              </a:rPr>
              <a:t>main() function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E9E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1A202C"/>
                </a:solidFill>
                <a:latin typeface="Calibri"/>
              </a:rPr>
              <a:t>execution ALWAYS starts here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</a:t>
            </a:r>
            <a:r>
              <a:rPr sz="1400" b="1">
                <a:solidFill>
                  <a:srgbClr val="1A202C"/>
                </a:solidFill>
                <a:latin typeface="Calibri"/>
              </a:rPr>
              <a:t>Braces { }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E9E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1A202C"/>
                </a:solidFill>
                <a:latin typeface="Calibri"/>
              </a:rPr>
              <a:t>mark the start and end of the body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•  </a:t>
            </a:r>
            <a:r>
              <a:rPr sz="1400" b="1">
                <a:solidFill>
                  <a:srgbClr val="1A202C"/>
                </a:solidFill>
                <a:latin typeface="Calibri"/>
              </a:rPr>
              <a:t>Statements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0E9E8E"/>
                </a:solidFill>
                <a:latin typeface="Calibri"/>
              </a:rPr>
              <a:t>      –  </a:t>
            </a:r>
            <a:r>
              <a:rPr sz="1300" b="0">
                <a:solidFill>
                  <a:srgbClr val="1A202C"/>
                </a:solidFill>
                <a:latin typeface="Calibri"/>
              </a:rPr>
              <a:t>instructions ending with a semicolon 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Golden rules:  every program needs main() • each statement ends with ;  • the #include line has NO semicolon.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Header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5A6778"/>
                </a:solidFill>
                <a:latin typeface="Calibri"/>
              </a:rPr>
              <a:t>A header file contains ready-made functions we can use by writing #include at the top of the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5394960" cy="566928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iostream.h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484632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F59E0B"/>
                </a:solidFill>
                <a:latin typeface="Calibri"/>
              </a:rPr>
              <a:t>input – output stream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Used for input and output.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Contains:  cin , cout , &lt;&lt; , &gt;&gt; , endl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57400"/>
            <a:ext cx="5394960" cy="566928"/>
          </a:xfrm>
          <a:prstGeom prst="rect">
            <a:avLst/>
          </a:prstGeom>
          <a:solidFill>
            <a:srgbClr val="0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iomanip.h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484632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0B2A2A"/>
                </a:solidFill>
                <a:latin typeface="Calibri"/>
              </a:rPr>
              <a:t>input – output manipulation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Used to format the output.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Contains:  setw() , setprecision()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5780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6070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0B2A4A"/>
                </a:solidFill>
                <a:latin typeface="Calibri"/>
              </a:rPr>
              <a:t>Tip:  cout / cin need iostream.h   •   setw() needs iomanip.h   •   the #include line has no 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Output using  cout  and  &lt;&lt;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cout ("see-out") sends output to the screen.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It uses the insertion operator  &lt;&lt;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Text must be inside double quotes " "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Defined in iostream.h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Arrow trick: cout &lt;&lt;  data flows OUT to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08760"/>
            <a:ext cx="5623560" cy="2331720"/>
          </a:xfrm>
          <a:prstGeom prst="roundRect">
            <a:avLst>
              <a:gd name="adj" fmla="val 60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600200"/>
            <a:ext cx="5257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8BA6C9"/>
                </a:solidFill>
                <a:latin typeface="Consolas"/>
              </a:rPr>
              <a:t>‹/›  cout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892808"/>
            <a:ext cx="52212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50">
                <a:solidFill>
                  <a:srgbClr val="E6EDF3"/>
                </a:solidFill>
                <a:latin typeface="Consolas"/>
              </a:rPr>
              <a:t>#include&lt;iostream.h&gt;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6EDF3"/>
                </a:solidFill>
                <a:latin typeface="Consolas"/>
              </a:rPr>
              <a:t>void main()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6EDF3"/>
                </a:solidFill>
                <a:latin typeface="Consolas"/>
              </a:rPr>
              <a:t>    cout &lt;&lt; "Total marks = ";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6EDF3"/>
                </a:solidFill>
                <a:latin typeface="Consolas"/>
              </a:rPr>
              <a:t>    cout &lt;&lt; 95;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977639"/>
            <a:ext cx="5623560" cy="1005840"/>
          </a:xfrm>
          <a:prstGeom prst="roundRect">
            <a:avLst>
              <a:gd name="adj" fmla="val 6000"/>
            </a:avLst>
          </a:prstGeom>
          <a:solidFill>
            <a:srgbClr val="0A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4069079"/>
            <a:ext cx="5257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5AC074"/>
                </a:solidFill>
                <a:latin typeface="Consolas"/>
              </a:rPr>
              <a:t>▷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4361687"/>
            <a:ext cx="5221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>
                <a:solidFill>
                  <a:srgbClr val="7CF79E"/>
                </a:solidFill>
                <a:latin typeface="Consolas"/>
              </a:rPr>
              <a:t>Total marks = 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9377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Common mistake:</a:t>
            </a:r>
          </a:p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cout uses &lt;&lt;  (not &gt;&gt;).  Do not forget the double quotes around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Input using  cin  and  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cin ("see-in") reads input from the keyboard.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It uses the extraction operator  &gt;&gt;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The value is stored in a variable.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Defined in iostream.h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•  </a:t>
            </a:r>
            <a:r>
              <a:rPr sz="1500" b="0">
                <a:solidFill>
                  <a:srgbClr val="1A202C"/>
                </a:solidFill>
                <a:latin typeface="Calibri"/>
              </a:rPr>
              <a:t>Arrow trick: cin &gt;&gt;  data flows IN to variable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08760"/>
            <a:ext cx="5623560" cy="2606040"/>
          </a:xfrm>
          <a:prstGeom prst="roundRect">
            <a:avLst>
              <a:gd name="adj" fmla="val 60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600200"/>
            <a:ext cx="5257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8BA6C9"/>
                </a:solidFill>
                <a:latin typeface="Consolas"/>
              </a:rPr>
              <a:t>‹/›  cin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892808"/>
            <a:ext cx="52212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#include&lt;iostream.h&gt;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void main()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int age;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cout &lt;&lt; "Enter age: ";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cin &gt;&gt; age;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   cout &lt;&lt; "Your age is " &lt;&lt; age;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206240"/>
            <a:ext cx="5623560" cy="1051560"/>
          </a:xfrm>
          <a:prstGeom prst="roundRect">
            <a:avLst>
              <a:gd name="adj" fmla="val 6000"/>
            </a:avLst>
          </a:prstGeom>
          <a:solidFill>
            <a:srgbClr val="0A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4297680"/>
            <a:ext cx="5257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5AC074"/>
                </a:solidFill>
                <a:latin typeface="Consolas"/>
              </a:rPr>
              <a:t>▷ 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4590288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50">
                <a:solidFill>
                  <a:srgbClr val="7CF79E"/>
                </a:solidFill>
                <a:latin typeface="Consolas"/>
              </a:rPr>
              <a:t>Enter age: 16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7CF79E"/>
                </a:solidFill>
                <a:latin typeface="Consolas"/>
              </a:rPr>
              <a:t>Your age is 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9377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Remember:</a:t>
            </a:r>
          </a:p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cin uses &gt;&gt;  and always stores the value into a variable.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endl, setw() and Cascading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474720" cy="384048"/>
          </a:xfrm>
          <a:prstGeom prst="roundRect">
            <a:avLst>
              <a:gd name="adj" fmla="val 6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4747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endl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347472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02C"/>
                </a:solidFill>
                <a:latin typeface="Calibri"/>
              </a:rPr>
              <a:t>Moves the cursor to a new line.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02C"/>
                </a:solidFill>
                <a:latin typeface="Calibri"/>
              </a:rPr>
              <a:t>Works like \n.</a:t>
            </a:r>
          </a:p>
          <a:p>
            <a:pPr algn="l"/>
            <a:r>
              <a:rPr sz="1200" b="0" i="0">
                <a:solidFill>
                  <a:srgbClr val="0B2A4A"/>
                </a:solidFill>
                <a:latin typeface="Consolas"/>
              </a:rPr>
              <a:t>cout&lt;&lt;"A"&lt;&lt;endl&lt;&lt;"B";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17320"/>
            <a:ext cx="3474720" cy="384048"/>
          </a:xfrm>
          <a:prstGeom prst="roundRect">
            <a:avLst>
              <a:gd name="adj" fmla="val 6000"/>
            </a:avLst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417320"/>
            <a:ext cx="34747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setw(n)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874519"/>
            <a:ext cx="347472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02C"/>
                </a:solidFill>
                <a:latin typeface="Calibri"/>
              </a:rPr>
              <a:t>Sets field width for the next value.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02C"/>
                </a:solidFill>
                <a:latin typeface="Calibri"/>
              </a:rPr>
              <a:t>Needs iomanip.h</a:t>
            </a:r>
          </a:p>
          <a:p>
            <a:pPr algn="l"/>
            <a:r>
              <a:rPr sz="1300" b="0" i="0">
                <a:solidFill>
                  <a:srgbClr val="1A202C"/>
                </a:solidFill>
                <a:latin typeface="Calibri"/>
              </a:rPr>
              <a:t>Value shifts to the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657600" cy="38404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417320"/>
            <a:ext cx="365760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Cascading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874519"/>
            <a:ext cx="365760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02C"/>
                </a:solidFill>
                <a:latin typeface="Calibri"/>
              </a:rPr>
              <a:t>Using &lt;&lt; or &gt;&gt; many times in one statement.</a:t>
            </a:r>
          </a:p>
          <a:p>
            <a:pPr algn="l"/>
            <a:r>
              <a:rPr sz="1300" b="0" i="0">
                <a:solidFill>
                  <a:srgbClr val="1A202C"/>
                </a:solidFill>
                <a:latin typeface="Calibri"/>
              </a:rPr>
              <a:t>Makes code short &amp; clear.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49040"/>
            <a:ext cx="5120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8BA6C9"/>
                </a:solidFill>
                <a:latin typeface="Consolas"/>
              </a:rPr>
              <a:t>‹/› 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41648"/>
            <a:ext cx="50840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cout &lt;&lt; setw(6) &lt;&lt; 5 &lt;&lt; endl;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cout &lt;&lt; setw(6) &lt;&lt; 100 &lt;&lt; endl;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cin  &gt;&gt; a &gt;&gt; b;      // cascaded input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6EDF3"/>
                </a:solidFill>
                <a:latin typeface="Consolas"/>
              </a:rPr>
              <a:t>cout &lt;&lt; "Sum=" &lt;&lt; a+b; // cascaded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0A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749040"/>
            <a:ext cx="50749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5AC074"/>
                </a:solidFill>
                <a:latin typeface="Consolas"/>
              </a:rPr>
              <a:t>▷ 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4041648"/>
            <a:ext cx="503834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CF79E"/>
                </a:solidFill>
                <a:latin typeface="Consolas"/>
              </a:rPr>
              <a:t>     5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CF79E"/>
                </a:solidFill>
                <a:latin typeface="Consolas"/>
              </a:rPr>
              <a:t>   100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CF79E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CF79E"/>
                </a:solidFill>
                <a:latin typeface="Consolas"/>
              </a:rPr>
              <a:t>(a and b are read together,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CF79E"/>
                </a:solidFill>
                <a:latin typeface="Consolas"/>
              </a:rPr>
              <a:t> then the sum is shown)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PUTTING 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Your First Complete C++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6583680" cy="4114800"/>
          </a:xfrm>
          <a:prstGeom prst="roundRect">
            <a:avLst>
              <a:gd name="adj" fmla="val 60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62179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8BA6C9"/>
                </a:solidFill>
                <a:latin typeface="Consolas"/>
              </a:rPr>
              <a:t>‹/›  add_two_numbers.cpp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892808"/>
            <a:ext cx="618134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#include&lt;iostream.h&gt;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void main()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    int a, b, sum;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    cout &lt;&lt; "Enter two numbers: ";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    cin  &gt;&gt; a &gt;&gt; b;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    sum = a + b;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    cout &lt;&lt; "Sum = " &lt;&lt; sum &lt;&lt; endl;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508760"/>
            <a:ext cx="4251960" cy="1737360"/>
          </a:xfrm>
          <a:prstGeom prst="roundRect">
            <a:avLst>
              <a:gd name="adj" fmla="val 6000"/>
            </a:avLst>
          </a:prstGeom>
          <a:solidFill>
            <a:srgbClr val="0A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1600200"/>
            <a:ext cx="3886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5AC074"/>
                </a:solidFill>
                <a:latin typeface="Consolas"/>
              </a:rPr>
              <a:t>▷ 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6" y="1892808"/>
            <a:ext cx="38496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50">
                <a:solidFill>
                  <a:srgbClr val="7CF79E"/>
                </a:solidFill>
                <a:latin typeface="Consolas"/>
              </a:rPr>
              <a:t>Enter two numbers: 4 6</a:t>
            </a:r>
          </a:p>
          <a:p>
            <a:pPr>
              <a:spcAft>
                <a:spcPts val="100"/>
              </a:spcAft>
            </a:pPr>
            <a:r>
              <a:rPr sz="1350">
                <a:solidFill>
                  <a:srgbClr val="7CF79E"/>
                </a:solidFill>
                <a:latin typeface="Consolas"/>
              </a:rPr>
              <a:t>Sum =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429000"/>
            <a:ext cx="4251960" cy="219456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520440"/>
            <a:ext cx="384048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2A4A"/>
                </a:solidFill>
                <a:latin typeface="Calibri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Calibri"/>
              </a:rPr>
              <a:t>1.  Declare variables a, b, sum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Calibri"/>
              </a:rPr>
              <a:t>2.  cin reads two numbers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Calibri"/>
              </a:rPr>
              <a:t>3.  Add them into sum</a:t>
            </a:r>
          </a:p>
          <a:p>
            <a:pPr algn="l"/>
            <a:r>
              <a:rPr sz="1250" b="0" i="0">
                <a:solidFill>
                  <a:srgbClr val="1A202C"/>
                </a:solidFill>
                <a:latin typeface="Calibri"/>
              </a:rPr>
              <a:t>4.  cout shows the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a Program Runs: 4 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E3B0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Type &amp; save the
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514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CBE3F7"/>
                </a:solidFill>
                <a:latin typeface="Consolas"/>
              </a:rPr>
              <a:t>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743200"/>
            <a:ext cx="365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5A6778"/>
                </a:solidFill>
                <a:latin typeface="Calibri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993392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E3B0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77440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COMPILATION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88036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Compiler turns it
into object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40480"/>
            <a:ext cx="2514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CBE3F7"/>
                </a:solidFill>
                <a:latin typeface="Consolas"/>
              </a:rPr>
              <a:t>.obj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743200"/>
            <a:ext cx="365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5A6778"/>
                </a:solidFill>
                <a:latin typeface="Calibri"/>
              </a:rP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2880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0E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93392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E3B0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77440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LINKING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8036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Linker joins library
to make .exe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840480"/>
            <a:ext cx="2514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CBE3F7"/>
                </a:solidFill>
                <a:latin typeface="Consolas"/>
              </a:rPr>
              <a:t>.exe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743200"/>
            <a:ext cx="365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5A6778"/>
                </a:solidFill>
                <a:latin typeface="Calibri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82880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1993392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E3B0"/>
                </a:solidFill>
                <a:latin typeface="Calibr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377440"/>
            <a:ext cx="2514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2331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Run the file and
see the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840480"/>
            <a:ext cx="2514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0B1B2B"/>
                </a:solidFill>
                <a:latin typeface="Consolas"/>
              </a:rPr>
              <a:t>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50" b="1" i="0">
                <a:solidFill>
                  <a:srgbClr val="0B2A4A"/>
                </a:solidFill>
                <a:latin typeface="Calibri"/>
              </a:rPr>
              <a:t>Order to remember:  Editor  →  Compilation  →  Linking  → 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7899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TOPIC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20624"/>
            <a:ext cx="1115568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Error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5A6778"/>
                </a:solidFill>
                <a:latin typeface="Calibri"/>
              </a:rPr>
              <a:t>An error message is shown by the compiler when there is a mistake in the program.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011680"/>
          <a:ext cx="1106424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5486400"/>
                <a:gridCol w="31089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Type of Error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6200" marR="76200" marT="38100" marB="38100" anchor="ctr">
                    <a:solidFill>
                      <a:srgbClr val="0B2A4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202C"/>
                          </a:solidFill>
                          <a:latin typeface="Calibri"/>
                        </a:rPr>
                        <a:t>Syntax Error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02C"/>
                          </a:solidFill>
                          <a:latin typeface="Calibri"/>
                        </a:rPr>
                        <a:t>Breaking a grammar rule of C++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02C"/>
                          </a:solidFill>
                          <a:latin typeface="Calibri"/>
                        </a:rPr>
                        <a:t>missing ; or }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202C"/>
                          </a:solidFill>
                          <a:latin typeface="Calibri"/>
                        </a:rPr>
                        <a:t>Logical Error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02C"/>
                          </a:solidFill>
                          <a:latin typeface="Calibri"/>
                        </a:rPr>
                        <a:t>Program runs but gives wrong output (no message!)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02C"/>
                          </a:solidFill>
                          <a:latin typeface="Calibri"/>
                        </a:rPr>
                        <a:t>using + instead of *</a:t>
                      </a:r>
                    </a:p>
                  </a:txBody>
                  <a:tcPr marL="76200" marR="76200" marT="38100" marB="38100" anchor="ctr">
                    <a:solidFill>
                      <a:srgbClr val="EDF2F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202C"/>
                          </a:solidFill>
                          <a:latin typeface="Calibri"/>
                        </a:rPr>
                        <a:t>Run-time Error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02C"/>
                          </a:solidFill>
                          <a:latin typeface="Calibri"/>
                        </a:rPr>
                        <a:t>Error while the program is running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02C"/>
                          </a:solidFill>
                          <a:latin typeface="Calibri"/>
                        </a:rPr>
                        <a:t>division by zero</a:t>
                      </a:r>
                    </a:p>
                  </a:txBody>
                  <a:tcPr marL="76200" marR="76200" marT="38100" marB="381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0B2A4A"/>
                </a:solidFill>
                <a:latin typeface="Calibri"/>
              </a:rPr>
              <a:t>Syntax errors are caught by the compiler before running.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0B2A4A"/>
                </a:solidFill>
                <a:latin typeface="Calibri"/>
              </a:rPr>
              <a:t>Logical errors are hardest — the program runs but the answer is wrong.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•  </a:t>
            </a:r>
            <a:r>
              <a:rPr sz="1350" b="0">
                <a:solidFill>
                  <a:srgbClr val="0B2A4A"/>
                </a:solidFill>
                <a:latin typeface="Calibri"/>
              </a:rPr>
              <a:t>A program that compiles is not always correct!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437376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492240"/>
            <a:ext cx="868680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Unit 2 - Introduction to C++  |  Part 1: Getting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6492240"/>
            <a:ext cx="19659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Slide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344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C++ → Bjarne Stroustrup, 1979, Bell Labs.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5 tokens: keyword, identifier, constant, operator, punctuator.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Execution always begins from main().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cout &lt;&lt; (output) and cin &gt;&gt; (input) need iostream.h.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setw() needs iomanip.h;  endl and \n → new line.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'A' is a character;  "A" is a string.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Stages: Editor → Compilation → Linking → Execution.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50">
                <a:solidFill>
                  <a:srgbClr val="FFFFFF"/>
                </a:solidFill>
                <a:latin typeface="Calibri"/>
              </a:rPr>
              <a:t>Errors: syntax, logical, run-time.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Next: Part 2 — Data Types, Variables and Constants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