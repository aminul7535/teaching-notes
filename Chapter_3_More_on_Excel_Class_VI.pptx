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DFEC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909560" y="1143000"/>
            <a:ext cx="3383280" cy="3291840"/>
          </a:xfrm>
          <a:prstGeom prst="roundRect">
            <a:avLst>
              <a:gd name="adj" fmla="val 6000"/>
            </a:avLst>
          </a:prstGeom>
          <a:solidFill>
            <a:srgbClr val="FFFFFF"/>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38160" y="1417320"/>
            <a:ext cx="731520" cy="502920"/>
          </a:xfrm>
          <a:prstGeom prst="rect">
            <a:avLst/>
          </a:prstGeom>
          <a:solidFill>
            <a:srgbClr val="1B5EA8"/>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69680" y="1417320"/>
            <a:ext cx="731520" cy="502920"/>
          </a:xfrm>
          <a:prstGeom prst="rect">
            <a:avLst/>
          </a:prstGeom>
          <a:solidFill>
            <a:srgbClr val="1B5EA8"/>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0" y="1417320"/>
            <a:ext cx="731520" cy="502920"/>
          </a:xfrm>
          <a:prstGeom prst="rect">
            <a:avLst/>
          </a:prstGeom>
          <a:solidFill>
            <a:srgbClr val="1B5EA8"/>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32720" y="1417320"/>
            <a:ext cx="731520" cy="502920"/>
          </a:xfrm>
          <a:prstGeom prst="rect">
            <a:avLst/>
          </a:prstGeom>
          <a:solidFill>
            <a:srgbClr val="1B5EA8"/>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0" y="1920240"/>
            <a:ext cx="731520" cy="502920"/>
          </a:xfrm>
          <a:prstGeom prst="rect">
            <a:avLst/>
          </a:prstGeom>
          <a:solidFill>
            <a:srgbClr val="DDEBF7"/>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69680" y="192024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01200" y="192024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32720" y="192024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2423160"/>
            <a:ext cx="731520" cy="502920"/>
          </a:xfrm>
          <a:prstGeom prst="rect">
            <a:avLst/>
          </a:prstGeom>
          <a:solidFill>
            <a:srgbClr val="DDEBF7"/>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69680" y="242316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1200" y="242316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332720" y="242316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2926080"/>
            <a:ext cx="731520" cy="502920"/>
          </a:xfrm>
          <a:prstGeom prst="rect">
            <a:avLst/>
          </a:prstGeom>
          <a:solidFill>
            <a:srgbClr val="DDEBF7"/>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69680" y="292608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0" y="292608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32720" y="292608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3429000"/>
            <a:ext cx="731520" cy="502920"/>
          </a:xfrm>
          <a:prstGeom prst="rect">
            <a:avLst/>
          </a:prstGeom>
          <a:solidFill>
            <a:srgbClr val="DDEBF7"/>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69680" y="342900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0" y="342900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332720" y="3429000"/>
            <a:ext cx="731520" cy="502920"/>
          </a:xfrm>
          <a:prstGeom prst="rect">
            <a:avLst/>
          </a:prstGeom>
          <a:solidFill>
            <a:srgbClr val="FFFFFF"/>
          </a:solidFill>
          <a:ln w="9525">
            <a:solidFill>
              <a:srgbClr val="C9D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87000" y="36576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2E7D32"/>
                </a:solidFill>
                <a:latin typeface="Calibri"/>
              </a:rPr>
              <a:t>📊</a:t>
            </a:r>
          </a:p>
        </p:txBody>
      </p:sp>
      <p:sp>
        <p:nvSpPr>
          <p:cNvPr id="25" name="TextBox 24"/>
          <p:cNvSpPr txBox="1"/>
          <p:nvPr/>
        </p:nvSpPr>
        <p:spPr>
          <a:xfrm>
            <a:off x="7315200" y="3886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ED7D31"/>
                </a:solidFill>
                <a:latin typeface="Calibri"/>
              </a:rPr>
              <a:t>🧮</a:t>
            </a:r>
          </a:p>
        </p:txBody>
      </p:sp>
      <p:sp>
        <p:nvSpPr>
          <p:cNvPr id="26" name="Rounded Rectangle 25"/>
          <p:cNvSpPr/>
          <p:nvPr/>
        </p:nvSpPr>
        <p:spPr>
          <a:xfrm>
            <a:off x="822960" y="1371600"/>
            <a:ext cx="2468880" cy="685800"/>
          </a:xfrm>
          <a:prstGeom prst="roundRect">
            <a:avLst>
              <a:gd name="adj" fmla="val 50000"/>
            </a:avLst>
          </a:prstGeom>
          <a:solidFill>
            <a:srgbClr val="ED7D31"/>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1371600"/>
            <a:ext cx="2468880" cy="68580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2000" b="1" i="0">
                <a:solidFill>
                  <a:srgbClr val="FFFFFF"/>
                </a:solidFill>
                <a:latin typeface="Calibri"/>
              </a:rPr>
              <a:t>📊  CHAPTER 3</a:t>
            </a:r>
          </a:p>
        </p:txBody>
      </p:sp>
      <p:sp>
        <p:nvSpPr>
          <p:cNvPr id="28" name="TextBox 27"/>
          <p:cNvSpPr txBox="1"/>
          <p:nvPr/>
        </p:nvSpPr>
        <p:spPr>
          <a:xfrm>
            <a:off x="777240" y="2331720"/>
            <a:ext cx="6949440" cy="1920240"/>
          </a:xfrm>
          <a:prstGeom prst="rect">
            <a:avLst/>
          </a:prstGeom>
          <a:noFill/>
        </p:spPr>
        <p:txBody>
          <a:bodyPr wrap="square" anchor="t" lIns="76200" rIns="76200" tIns="50800" bIns="50800">
            <a:spAutoFit/>
          </a:bodyPr>
          <a:lstStyle/>
          <a:p>
            <a:pPr algn="l">
              <a:lnSpc>
                <a:spcPct val="100000"/>
              </a:lnSpc>
              <a:spcBef>
                <a:spcPts val="0"/>
              </a:spcBef>
              <a:spcAft>
                <a:spcPts val="0"/>
              </a:spcAft>
            </a:pPr>
            <a:r>
              <a:rPr sz="6000" b="1" i="0">
                <a:solidFill>
                  <a:srgbClr val="1F3864"/>
                </a:solidFill>
                <a:latin typeface="Calibri Light"/>
              </a:rPr>
              <a:t>More on Excel</a:t>
            </a:r>
          </a:p>
          <a:p>
            <a:pPr algn="l">
              <a:lnSpc>
                <a:spcPct val="105000"/>
              </a:lnSpc>
              <a:spcBef>
                <a:spcPts val="800"/>
              </a:spcBef>
              <a:spcAft>
                <a:spcPts val="400"/>
              </a:spcAft>
            </a:pPr>
            <a:r>
              <a:rPr sz="2000" b="0" i="1">
                <a:solidFill>
                  <a:srgbClr val="2E75B6"/>
                </a:solidFill>
                <a:latin typeface="Calibri"/>
              </a:rPr>
              <a:t>Smart Classroom • Interactive Learning</a:t>
            </a:r>
          </a:p>
        </p:txBody>
      </p:sp>
      <p:sp>
        <p:nvSpPr>
          <p:cNvPr id="29" name="Rounded Rectangle 28"/>
          <p:cNvSpPr/>
          <p:nvPr/>
        </p:nvSpPr>
        <p:spPr>
          <a:xfrm>
            <a:off x="822960" y="4434840"/>
            <a:ext cx="3108960" cy="777240"/>
          </a:xfrm>
          <a:prstGeom prst="roundRect">
            <a:avLst>
              <a:gd name="adj" fmla="val 40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434840"/>
            <a:ext cx="3108960" cy="77724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2400" b="1" i="0">
                <a:solidFill>
                  <a:srgbClr val="FFFFFF"/>
                </a:solidFill>
                <a:latin typeface="Calibri"/>
              </a:rPr>
              <a:t>🎓  Class VI</a:t>
            </a:r>
          </a:p>
        </p:txBody>
      </p:sp>
      <p:sp>
        <p:nvSpPr>
          <p:cNvPr id="31" name="TextBox 30"/>
          <p:cNvSpPr txBox="1"/>
          <p:nvPr/>
        </p:nvSpPr>
        <p:spPr>
          <a:xfrm>
            <a:off x="822960" y="5440680"/>
            <a:ext cx="5943600" cy="548640"/>
          </a:xfrm>
          <a:prstGeom prst="rect">
            <a:avLst/>
          </a:prstGeom>
          <a:noFill/>
        </p:spPr>
        <p:txBody>
          <a:bodyPr wrap="square" anchor="t" lIns="76200" rIns="76200" tIns="50800" bIns="50800">
            <a:spAutoFit/>
          </a:bodyPr>
          <a:lstStyle/>
          <a:p>
            <a:pPr algn="l">
              <a:lnSpc>
                <a:spcPct val="105000"/>
              </a:lnSpc>
              <a:spcBef>
                <a:spcPts val="0"/>
              </a:spcBef>
              <a:spcAft>
                <a:spcPts val="400"/>
              </a:spcAft>
            </a:pPr>
            <a:r>
              <a:rPr sz="1600" b="0" i="0">
                <a:solidFill>
                  <a:srgbClr val="707070"/>
                </a:solidFill>
                <a:latin typeface="Calibri"/>
              </a:rPr>
              <a:t>Computer Science  •  Microsoft Excel</a:t>
            </a:r>
          </a:p>
        </p:txBody>
      </p:sp>
      <p:sp>
        <p:nvSpPr>
          <p:cNvPr id="32" name="Rectangle 31"/>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34" name="TextBox 33"/>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Learning Activity</a:t>
            </a:r>
          </a:p>
        </p:txBody>
      </p:sp>
      <p:sp>
        <p:nvSpPr>
          <p:cNvPr id="5" name="Rounded Rectangle 4"/>
          <p:cNvSpPr/>
          <p:nvPr/>
        </p:nvSpPr>
        <p:spPr>
          <a:xfrm>
            <a:off x="1965960" y="1920240"/>
            <a:ext cx="8229600" cy="1965960"/>
          </a:xfrm>
          <a:prstGeom prst="roundRect">
            <a:avLst>
              <a:gd name="adj" fmla="val 12000"/>
            </a:avLst>
          </a:prstGeom>
          <a:solidFill>
            <a:srgbClr val="FFFFFF"/>
          </a:solidFill>
          <a:ln w="25400">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48840" y="1920240"/>
            <a:ext cx="7863840" cy="1965960"/>
          </a:xfrm>
          <a:prstGeom prst="rect">
            <a:avLst/>
          </a:prstGeom>
          <a:noFill/>
        </p:spPr>
        <p:txBody>
          <a:bodyPr wrap="square" anchor="ctr" lIns="76200" rIns="76200" tIns="50800" bIns="50800">
            <a:spAutoFit/>
          </a:bodyPr>
          <a:lstStyle/>
          <a:p>
            <a:pPr algn="ctr">
              <a:lnSpc>
                <a:spcPct val="105000"/>
              </a:lnSpc>
              <a:spcBef>
                <a:spcPts val="0"/>
              </a:spcBef>
              <a:spcAft>
                <a:spcPts val="600"/>
              </a:spcAft>
            </a:pPr>
            <a:r>
              <a:rPr sz="4000" b="1" i="0">
                <a:solidFill>
                  <a:srgbClr val="1F3864"/>
                </a:solidFill>
                <a:latin typeface="Calibri Light"/>
              </a:rPr>
              <a:t>📝  Questions &amp; Answers</a:t>
            </a:r>
          </a:p>
          <a:p>
            <a:pPr algn="ctr">
              <a:lnSpc>
                <a:spcPct val="105000"/>
              </a:lnSpc>
              <a:spcBef>
                <a:spcPts val="0"/>
              </a:spcBef>
              <a:spcAft>
                <a:spcPts val="400"/>
              </a:spcAft>
            </a:pPr>
            <a:r>
              <a:rPr sz="2000" b="0" i="1">
                <a:solidFill>
                  <a:srgbClr val="2E7D32"/>
                </a:solidFill>
                <a:latin typeface="Calibri"/>
              </a:rPr>
              <a:t>Let's revise Chapter 3 with fun, interactive activities!</a:t>
            </a:r>
          </a:p>
        </p:txBody>
      </p:sp>
      <p:sp>
        <p:nvSpPr>
          <p:cNvPr id="7" name="Rounded Rectangle 6"/>
          <p:cNvSpPr/>
          <p:nvPr/>
        </p:nvSpPr>
        <p:spPr>
          <a:xfrm>
            <a:off x="975207" y="4297680"/>
            <a:ext cx="3200400" cy="1234440"/>
          </a:xfrm>
          <a:prstGeom prst="roundRect">
            <a:avLst>
              <a:gd name="adj" fmla="val 20000"/>
            </a:avLst>
          </a:prstGeom>
          <a:solidFill>
            <a:srgbClr val="FFFFFF"/>
          </a:solidFill>
          <a:ln w="25400">
            <a:solidFill>
              <a:srgbClr val="2E75B6"/>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207" y="4297680"/>
            <a:ext cx="3200400" cy="1234440"/>
          </a:xfrm>
          <a:prstGeom prst="rect">
            <a:avLst/>
          </a:prstGeom>
          <a:noFill/>
        </p:spPr>
        <p:txBody>
          <a:bodyPr wrap="square" anchor="ctr" lIns="76200" rIns="76200" tIns="50800" bIns="50800">
            <a:spAutoFit/>
          </a:bodyPr>
          <a:lstStyle/>
          <a:p>
            <a:pPr algn="ctr">
              <a:lnSpc>
                <a:spcPct val="105000"/>
              </a:lnSpc>
              <a:spcBef>
                <a:spcPts val="0"/>
              </a:spcBef>
              <a:spcAft>
                <a:spcPts val="200"/>
              </a:spcAft>
            </a:pPr>
            <a:r>
              <a:rPr sz="3000" b="0" i="0">
                <a:solidFill>
                  <a:srgbClr val="2E75B6"/>
                </a:solidFill>
                <a:latin typeface="Calibri"/>
              </a:rPr>
              <a:t>📊</a:t>
            </a:r>
          </a:p>
          <a:p>
            <a:pPr algn="ctr">
              <a:lnSpc>
                <a:spcPct val="105000"/>
              </a:lnSpc>
              <a:spcBef>
                <a:spcPts val="0"/>
              </a:spcBef>
              <a:spcAft>
                <a:spcPts val="400"/>
              </a:spcAft>
            </a:pPr>
            <a:r>
              <a:rPr sz="1800" b="1" i="0">
                <a:solidFill>
                  <a:srgbClr val="1F3864"/>
                </a:solidFill>
                <a:latin typeface="Calibri"/>
              </a:rPr>
              <a:t>Excel Skills</a:t>
            </a:r>
          </a:p>
        </p:txBody>
      </p:sp>
      <p:sp>
        <p:nvSpPr>
          <p:cNvPr id="9" name="Rounded Rectangle 8"/>
          <p:cNvSpPr/>
          <p:nvPr/>
        </p:nvSpPr>
        <p:spPr>
          <a:xfrm>
            <a:off x="4495647" y="4297680"/>
            <a:ext cx="3200400" cy="1234440"/>
          </a:xfrm>
          <a:prstGeom prst="roundRect">
            <a:avLst>
              <a:gd name="adj" fmla="val 20000"/>
            </a:avLst>
          </a:prstGeom>
          <a:solidFill>
            <a:srgbClr val="FFFFFF"/>
          </a:solidFill>
          <a:ln w="25400">
            <a:solidFill>
              <a:srgbClr val="ED7D31"/>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5647" y="4297680"/>
            <a:ext cx="3200400" cy="1234440"/>
          </a:xfrm>
          <a:prstGeom prst="rect">
            <a:avLst/>
          </a:prstGeom>
          <a:noFill/>
        </p:spPr>
        <p:txBody>
          <a:bodyPr wrap="square" anchor="ctr" lIns="76200" rIns="76200" tIns="50800" bIns="50800">
            <a:spAutoFit/>
          </a:bodyPr>
          <a:lstStyle/>
          <a:p>
            <a:pPr algn="ctr">
              <a:lnSpc>
                <a:spcPct val="105000"/>
              </a:lnSpc>
              <a:spcBef>
                <a:spcPts val="0"/>
              </a:spcBef>
              <a:spcAft>
                <a:spcPts val="200"/>
              </a:spcAft>
            </a:pPr>
            <a:r>
              <a:rPr sz="3000" b="0" i="0">
                <a:solidFill>
                  <a:srgbClr val="ED7D31"/>
                </a:solidFill>
                <a:latin typeface="Calibri"/>
              </a:rPr>
              <a:t>📝</a:t>
            </a:r>
          </a:p>
          <a:p>
            <a:pPr algn="ctr">
              <a:lnSpc>
                <a:spcPct val="105000"/>
              </a:lnSpc>
              <a:spcBef>
                <a:spcPts val="0"/>
              </a:spcBef>
              <a:spcAft>
                <a:spcPts val="400"/>
              </a:spcAft>
            </a:pPr>
            <a:r>
              <a:rPr sz="1800" b="1" i="0">
                <a:solidFill>
                  <a:srgbClr val="1F3864"/>
                </a:solidFill>
                <a:latin typeface="Calibri"/>
              </a:rPr>
              <a:t>Practice Q&amp;A</a:t>
            </a:r>
          </a:p>
        </p:txBody>
      </p:sp>
      <p:sp>
        <p:nvSpPr>
          <p:cNvPr id="11" name="Rounded Rectangle 10"/>
          <p:cNvSpPr/>
          <p:nvPr/>
        </p:nvSpPr>
        <p:spPr>
          <a:xfrm>
            <a:off x="8016087" y="4297680"/>
            <a:ext cx="3200400" cy="1234440"/>
          </a:xfrm>
          <a:prstGeom prst="roundRect">
            <a:avLst>
              <a:gd name="adj" fmla="val 20000"/>
            </a:avLst>
          </a:prstGeom>
          <a:solidFill>
            <a:srgbClr val="FFFFFF"/>
          </a:solidFill>
          <a:ln w="25400">
            <a:solidFill>
              <a:srgbClr val="2E7D32"/>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16087" y="4297680"/>
            <a:ext cx="3200400" cy="1234440"/>
          </a:xfrm>
          <a:prstGeom prst="rect">
            <a:avLst/>
          </a:prstGeom>
          <a:noFill/>
        </p:spPr>
        <p:txBody>
          <a:bodyPr wrap="square" anchor="ctr" lIns="76200" rIns="76200" tIns="50800" bIns="50800">
            <a:spAutoFit/>
          </a:bodyPr>
          <a:lstStyle/>
          <a:p>
            <a:pPr algn="ctr">
              <a:lnSpc>
                <a:spcPct val="105000"/>
              </a:lnSpc>
              <a:spcBef>
                <a:spcPts val="0"/>
              </a:spcBef>
              <a:spcAft>
                <a:spcPts val="200"/>
              </a:spcAft>
            </a:pPr>
            <a:r>
              <a:rPr sz="3000" b="0" i="0">
                <a:solidFill>
                  <a:srgbClr val="2E7D32"/>
                </a:solidFill>
                <a:latin typeface="Calibri"/>
              </a:rPr>
              <a:t>✅</a:t>
            </a:r>
          </a:p>
          <a:p>
            <a:pPr algn="ctr">
              <a:lnSpc>
                <a:spcPct val="105000"/>
              </a:lnSpc>
              <a:spcBef>
                <a:spcPts val="0"/>
              </a:spcBef>
              <a:spcAft>
                <a:spcPts val="400"/>
              </a:spcAft>
            </a:pPr>
            <a:r>
              <a:rPr sz="1800" b="1" i="0">
                <a:solidFill>
                  <a:srgbClr val="1F3864"/>
                </a:solidFill>
                <a:latin typeface="Calibri"/>
              </a:rPr>
              <a:t>Check Answers</a:t>
            </a:r>
          </a:p>
        </p:txBody>
      </p:sp>
      <p:sp>
        <p:nvSpPr>
          <p:cNvPr id="13" name="Rectangle 12"/>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5" name="TextBox 14"/>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ED7D31"/>
              </a:gs>
              <a:gs pos="100000">
                <a:srgbClr val="F2A64B"/>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4" name="TextBox 3"/>
          <p:cNvSpPr txBox="1"/>
          <p:nvPr/>
        </p:nvSpPr>
        <p:spPr>
          <a:xfrm>
            <a:off x="10698480" y="82296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400" b="0" i="0">
                <a:solidFill>
                  <a:srgbClr val="FFFFFF"/>
                </a:solidFill>
                <a:latin typeface="Calibri"/>
              </a:rPr>
              <a:t>📊</a:t>
            </a:r>
          </a:p>
        </p:txBody>
      </p:sp>
      <p:sp>
        <p:nvSpPr>
          <p:cNvPr id="5" name="TextBox 4"/>
          <p:cNvSpPr txBox="1"/>
          <p:nvPr/>
        </p:nvSpPr>
        <p:spPr>
          <a:xfrm>
            <a:off x="1280160" y="521208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6" name="TextBox 5"/>
          <p:cNvSpPr txBox="1"/>
          <p:nvPr/>
        </p:nvSpPr>
        <p:spPr>
          <a:xfrm>
            <a:off x="10241280" y="5120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7" name="TextBox 6"/>
          <p:cNvSpPr txBox="1"/>
          <p:nvPr/>
        </p:nvSpPr>
        <p:spPr>
          <a:xfrm>
            <a:off x="5669280" y="457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FFFFFF"/>
                </a:solidFill>
                <a:latin typeface="Calibri"/>
              </a:rPr>
              <a:t>📚</a:t>
            </a:r>
          </a:p>
        </p:txBody>
      </p:sp>
      <p:sp>
        <p:nvSpPr>
          <p:cNvPr id="8" name="TextBox 7"/>
          <p:cNvSpPr txBox="1"/>
          <p:nvPr/>
        </p:nvSpPr>
        <p:spPr>
          <a:xfrm>
            <a:off x="9144000" y="292608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FFFFFF"/>
                </a:solidFill>
                <a:latin typeface="Calibri"/>
              </a:rPr>
              <a:t>📝</a:t>
            </a:r>
          </a:p>
        </p:txBody>
      </p:sp>
      <p:sp>
        <p:nvSpPr>
          <p:cNvPr id="9" name="TextBox 8"/>
          <p:cNvSpPr txBox="1"/>
          <p:nvPr/>
        </p:nvSpPr>
        <p:spPr>
          <a:xfrm>
            <a:off x="2377440" y="2743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000" b="0" i="0">
                <a:solidFill>
                  <a:srgbClr val="FFFFFF"/>
                </a:solidFill>
                <a:latin typeface="Calibri"/>
              </a:rPr>
              <a:t>📊</a:t>
            </a:r>
          </a:p>
        </p:txBody>
      </p:sp>
      <p:sp>
        <p:nvSpPr>
          <p:cNvPr id="10" name="Rounded Rectangle 9"/>
          <p:cNvSpPr/>
          <p:nvPr/>
        </p:nvSpPr>
        <p:spPr>
          <a:xfrm>
            <a:off x="2194560" y="1965960"/>
            <a:ext cx="7772400" cy="2926080"/>
          </a:xfrm>
          <a:prstGeom prst="roundRect">
            <a:avLst>
              <a:gd name="adj" fmla="val 10000"/>
            </a:avLst>
          </a:prstGeom>
          <a:solidFill>
            <a:srgbClr val="FFFFFF"/>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1965960"/>
            <a:ext cx="7223760" cy="2926080"/>
          </a:xfrm>
          <a:prstGeom prst="rect">
            <a:avLst/>
          </a:prstGeom>
          <a:noFill/>
        </p:spPr>
        <p:txBody>
          <a:bodyPr wrap="square" anchor="ctr" lIns="76200" rIns="76200" tIns="50800" bIns="50800">
            <a:spAutoFit/>
          </a:bodyPr>
          <a:lstStyle/>
          <a:p>
            <a:pPr algn="ctr">
              <a:lnSpc>
                <a:spcPct val="105000"/>
              </a:lnSpc>
              <a:spcBef>
                <a:spcPts val="0"/>
              </a:spcBef>
              <a:spcAft>
                <a:spcPts val="200"/>
              </a:spcAft>
            </a:pPr>
            <a:r>
              <a:rPr sz="6000" b="0" i="0">
                <a:solidFill>
                  <a:srgbClr val="ED7D31"/>
                </a:solidFill>
                <a:latin typeface="Calibri"/>
              </a:rPr>
              <a:t>📝</a:t>
            </a:r>
          </a:p>
          <a:p>
            <a:pPr algn="ctr">
              <a:lnSpc>
                <a:spcPct val="105000"/>
              </a:lnSpc>
              <a:spcBef>
                <a:spcPts val="0"/>
              </a:spcBef>
              <a:spcAft>
                <a:spcPts val="600"/>
              </a:spcAft>
            </a:pPr>
            <a:r>
              <a:rPr sz="4400" b="1" i="0">
                <a:solidFill>
                  <a:srgbClr val="1F3864"/>
                </a:solidFill>
                <a:latin typeface="Calibri Light"/>
              </a:rPr>
              <a:t>Warm Up!</a:t>
            </a:r>
          </a:p>
          <a:p>
            <a:pPr algn="ctr">
              <a:lnSpc>
                <a:spcPct val="105000"/>
              </a:lnSpc>
              <a:spcBef>
                <a:spcPts val="0"/>
              </a:spcBef>
              <a:spcAft>
                <a:spcPts val="400"/>
              </a:spcAft>
            </a:pPr>
            <a:r>
              <a:rPr sz="2000" b="1" i="1">
                <a:solidFill>
                  <a:srgbClr val="F2A64B"/>
                </a:solidFill>
                <a:latin typeface="Calibri"/>
              </a:rPr>
              <a:t>True or False  •  Page 40</a:t>
            </a:r>
          </a:p>
        </p:txBody>
      </p:sp>
      <p:sp>
        <p:nvSpPr>
          <p:cNvPr id="12" name="Rectangle 11"/>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4" name="TextBox 13"/>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ED7D31"/>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Warm Up! — True or False</a:t>
            </a:r>
          </a:p>
          <a:p>
            <a:pPr algn="l">
              <a:lnSpc>
                <a:spcPct val="105000"/>
              </a:lnSpc>
              <a:spcBef>
                <a:spcPts val="200"/>
              </a:spcBef>
              <a:spcAft>
                <a:spcPts val="0"/>
              </a:spcAft>
            </a:pPr>
            <a:r>
              <a:rPr sz="1500" b="0" i="1">
                <a:solidFill>
                  <a:srgbClr val="E6EFF7"/>
                </a:solidFill>
                <a:latin typeface="Calibri"/>
              </a:rPr>
              <a:t>Page 40</a:t>
            </a:r>
          </a:p>
        </p:txBody>
      </p:sp>
      <p:sp>
        <p:nvSpPr>
          <p:cNvPr id="5" name="TextBox 4"/>
          <p:cNvSpPr txBox="1"/>
          <p:nvPr/>
        </p:nvSpPr>
        <p:spPr>
          <a:xfrm>
            <a:off x="548640" y="1463040"/>
            <a:ext cx="11094415" cy="365760"/>
          </a:xfrm>
          <a:prstGeom prst="rect">
            <a:avLst/>
          </a:prstGeom>
          <a:noFill/>
        </p:spPr>
        <p:txBody>
          <a:bodyPr wrap="square" anchor="t" lIns="76200" rIns="76200" tIns="50800" bIns="50800">
            <a:spAutoFit/>
          </a:bodyPr>
          <a:lstStyle/>
          <a:p>
            <a:pPr algn="l">
              <a:lnSpc>
                <a:spcPct val="105000"/>
              </a:lnSpc>
              <a:spcBef>
                <a:spcPts val="0"/>
              </a:spcBef>
              <a:spcAft>
                <a:spcPts val="0"/>
              </a:spcAft>
            </a:pPr>
            <a:r>
              <a:rPr sz="1700" b="1" i="1">
                <a:solidFill>
                  <a:srgbClr val="707070"/>
                </a:solidFill>
                <a:latin typeface="Calibri"/>
              </a:rPr>
              <a:t>Write 'T' for true and 'F' for false:</a:t>
            </a:r>
          </a:p>
        </p:txBody>
      </p:sp>
      <p:sp>
        <p:nvSpPr>
          <p:cNvPr id="6" name="Rounded Rectangle 5"/>
          <p:cNvSpPr/>
          <p:nvPr/>
        </p:nvSpPr>
        <p:spPr>
          <a:xfrm>
            <a:off x="548640" y="192024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20240"/>
            <a:ext cx="10820095" cy="411480"/>
          </a:xfrm>
          <a:prstGeom prst="rect">
            <a:avLst/>
          </a:prstGeom>
          <a:noFill/>
        </p:spPr>
        <p:txBody>
          <a:bodyPr wrap="square" anchor="ctr" lIns="76200" rIns="76200" tIns="50800" bIns="50800">
            <a:spAutoFit/>
          </a:bodyPr>
          <a:lstStyle/>
          <a:p>
            <a:pPr>
              <a:lnSpc>
                <a:spcPct val="100000"/>
              </a:lnSpc>
            </a:pPr>
            <a:r>
              <a:rPr sz="2000" b="1">
                <a:solidFill>
                  <a:srgbClr val="ED7D31"/>
                </a:solidFill>
                <a:latin typeface="Calibri"/>
              </a:rPr>
              <a:t>1.  </a:t>
            </a:r>
            <a:r>
              <a:rPr sz="2000" b="1">
                <a:solidFill>
                  <a:srgbClr val="1F3864"/>
                </a:solidFill>
                <a:latin typeface="Calibri"/>
              </a:rPr>
              <a:t>Excel makes calculation easier.</a:t>
            </a:r>
          </a:p>
        </p:txBody>
      </p:sp>
      <p:sp>
        <p:nvSpPr>
          <p:cNvPr id="8" name="Rounded Rectangle 7"/>
          <p:cNvSpPr/>
          <p:nvPr/>
        </p:nvSpPr>
        <p:spPr>
          <a:xfrm>
            <a:off x="868680" y="2404872"/>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04872"/>
            <a:ext cx="10408615" cy="457200"/>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T (True)</a:t>
            </a:r>
          </a:p>
        </p:txBody>
      </p:sp>
      <p:sp>
        <p:nvSpPr>
          <p:cNvPr id="10" name="Rounded Rectangle 9"/>
          <p:cNvSpPr/>
          <p:nvPr/>
        </p:nvSpPr>
        <p:spPr>
          <a:xfrm>
            <a:off x="548640" y="3136392"/>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136392"/>
            <a:ext cx="10820095" cy="411480"/>
          </a:xfrm>
          <a:prstGeom prst="rect">
            <a:avLst/>
          </a:prstGeom>
          <a:noFill/>
        </p:spPr>
        <p:txBody>
          <a:bodyPr wrap="square" anchor="ctr" lIns="76200" rIns="76200" tIns="50800" bIns="50800">
            <a:spAutoFit/>
          </a:bodyPr>
          <a:lstStyle/>
          <a:p>
            <a:pPr>
              <a:lnSpc>
                <a:spcPct val="100000"/>
              </a:lnSpc>
            </a:pPr>
            <a:r>
              <a:rPr sz="2000" b="1">
                <a:solidFill>
                  <a:srgbClr val="ED7D31"/>
                </a:solidFill>
                <a:latin typeface="Calibri"/>
              </a:rPr>
              <a:t>2.  </a:t>
            </a:r>
            <a:r>
              <a:rPr sz="2000" b="1">
                <a:solidFill>
                  <a:srgbClr val="1F3864"/>
                </a:solidFill>
                <a:latin typeface="Calibri"/>
              </a:rPr>
              <a:t>We can apply all types of mathematical operations like addition, subtraction, multiplication and division in Excel.</a:t>
            </a:r>
          </a:p>
        </p:txBody>
      </p:sp>
      <p:sp>
        <p:nvSpPr>
          <p:cNvPr id="12" name="Rounded Rectangle 11"/>
          <p:cNvSpPr/>
          <p:nvPr/>
        </p:nvSpPr>
        <p:spPr>
          <a:xfrm>
            <a:off x="868680" y="3621024"/>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621024"/>
            <a:ext cx="10408615" cy="457200"/>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T (True)</a:t>
            </a:r>
          </a:p>
        </p:txBody>
      </p:sp>
      <p:sp>
        <p:nvSpPr>
          <p:cNvPr id="14" name="Rounded Rectangle 13"/>
          <p:cNvSpPr/>
          <p:nvPr/>
        </p:nvSpPr>
        <p:spPr>
          <a:xfrm>
            <a:off x="548640" y="4352544"/>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352544"/>
            <a:ext cx="10820095" cy="411480"/>
          </a:xfrm>
          <a:prstGeom prst="rect">
            <a:avLst/>
          </a:prstGeom>
          <a:noFill/>
        </p:spPr>
        <p:txBody>
          <a:bodyPr wrap="square" anchor="ctr" lIns="76200" rIns="76200" tIns="50800" bIns="50800">
            <a:spAutoFit/>
          </a:bodyPr>
          <a:lstStyle/>
          <a:p>
            <a:pPr>
              <a:lnSpc>
                <a:spcPct val="100000"/>
              </a:lnSpc>
            </a:pPr>
            <a:r>
              <a:rPr sz="2000" b="1">
                <a:solidFill>
                  <a:srgbClr val="ED7D31"/>
                </a:solidFill>
                <a:latin typeface="Calibri"/>
              </a:rPr>
              <a:t>3.  </a:t>
            </a:r>
            <a:r>
              <a:rPr sz="2000" b="1">
                <a:solidFill>
                  <a:srgbClr val="1F3864"/>
                </a:solidFill>
                <a:latin typeface="Calibri"/>
              </a:rPr>
              <a:t>The input of =25+B2 will give an error message.</a:t>
            </a:r>
          </a:p>
        </p:txBody>
      </p:sp>
      <p:sp>
        <p:nvSpPr>
          <p:cNvPr id="16" name="Rounded Rectangle 15"/>
          <p:cNvSpPr/>
          <p:nvPr/>
        </p:nvSpPr>
        <p:spPr>
          <a:xfrm>
            <a:off x="868680" y="4837176"/>
            <a:ext cx="10774375" cy="457200"/>
          </a:xfrm>
          <a:prstGeom prst="roundRect">
            <a:avLst>
              <a:gd name="adj" fmla="val 18000"/>
            </a:avLst>
          </a:prstGeom>
          <a:solidFill>
            <a:srgbClr val="FDEAEA"/>
          </a:solidFill>
          <a:ln w="22225">
            <a:solidFill>
              <a:srgbClr val="E57373"/>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837176"/>
            <a:ext cx="10408615" cy="457200"/>
          </a:xfrm>
          <a:prstGeom prst="rect">
            <a:avLst/>
          </a:prstGeom>
          <a:noFill/>
        </p:spPr>
        <p:txBody>
          <a:bodyPr wrap="square" anchor="ctr" lIns="76200" rIns="76200" tIns="50800" bIns="50800">
            <a:spAutoFit/>
          </a:bodyPr>
          <a:lstStyle/>
          <a:p>
            <a:pPr>
              <a:lnSpc>
                <a:spcPct val="102000"/>
              </a:lnSpc>
            </a:pPr>
            <a:r>
              <a:rPr sz="1900" b="1">
                <a:solidFill>
                  <a:srgbClr val="D32F2F"/>
                </a:solidFill>
                <a:latin typeface="Calibri"/>
              </a:rPr>
              <a:t>❌ Answer: </a:t>
            </a:r>
            <a:r>
              <a:rPr sz="1900" b="1">
                <a:solidFill>
                  <a:srgbClr val="D32F2F"/>
                </a:solidFill>
                <a:latin typeface="Calibri"/>
              </a:rPr>
              <a:t>F (False) (This is a correct formula that adds 25 to whatever number is inside cell B2).</a:t>
            </a:r>
          </a:p>
        </p:txBody>
      </p:sp>
      <p:sp>
        <p:nvSpPr>
          <p:cNvPr id="18" name="Rectangle 17"/>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20" name="TextBox 19"/>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6"/>
                                        </p:tgtEl>
                                      </p:cBhvr>
                                    </p:animEffect>
                                    <p:set>
                                      <p:cBhvr>
                                        <p:cTn id="7" dur="1" fill="hold">
                                          <p:stCondLst>
                                            <p:cond delay="0"/>
                                          </p:stCondLst>
                                        </p:cTn>
                                        <p:tgtEl>
                                          <p:spTgt spid="6"/>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8"/>
                                        </p:tgtEl>
                                      </p:cBhvr>
                                    </p:animEffec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animEffect transition="in" filter="fade">
                                      <p:cBhvr>
                                        <p:cTn id="16" dur="500"/>
                                        <p:tgtEl>
                                          <p:spTgt spid="10"/>
                                        </p:tgtEl>
                                      </p:cBhvr>
                                    </p:animEffec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animEffect transition="in" filter="fade">
                                      <p:cBhvr>
                                        <p:cTn id="21" dur="500"/>
                                        <p:tgtEl>
                                          <p:spTgt spid="12"/>
                                        </p:tgtEl>
                                      </p:cBhvr>
                                    </p:animEffec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animEffect transition="in" filter="fade">
                                      <p:cBhvr>
                                        <p:cTn id="26" dur="500"/>
                                        <p:tgtEl>
                                          <p:spTgt spid="14"/>
                                        </p:tgtEl>
                                      </p:cBhvr>
                                    </p:animEffect>
                                    <p:set>
                                      <p:cBhvr>
                                        <p:cTn id="27" dur="1" fill="hold">
                                          <p:stCondLst>
                                            <p:cond delay="0"/>
                                          </p:stCondLst>
                                        </p:cTn>
                                        <p:tgtEl>
                                          <p:spTgt spid="1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animEffect transition="in" filter="fade">
                                      <p:cBhvr>
                                        <p:cTn id="31" dur="500"/>
                                        <p:tgtEl>
                                          <p:spTgt spid="16"/>
                                        </p:tgtEl>
                                      </p:cBhvr>
                                    </p:animEffec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E75B6"/>
              </a:gs>
              <a:gs pos="100000">
                <a:srgbClr val="3E9BD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4" name="TextBox 3"/>
          <p:cNvSpPr txBox="1"/>
          <p:nvPr/>
        </p:nvSpPr>
        <p:spPr>
          <a:xfrm>
            <a:off x="10698480" y="82296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400" b="0" i="0">
                <a:solidFill>
                  <a:srgbClr val="FFFFFF"/>
                </a:solidFill>
                <a:latin typeface="Calibri"/>
              </a:rPr>
              <a:t>📊</a:t>
            </a:r>
          </a:p>
        </p:txBody>
      </p:sp>
      <p:sp>
        <p:nvSpPr>
          <p:cNvPr id="5" name="TextBox 4"/>
          <p:cNvSpPr txBox="1"/>
          <p:nvPr/>
        </p:nvSpPr>
        <p:spPr>
          <a:xfrm>
            <a:off x="1280160" y="521208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6" name="TextBox 5"/>
          <p:cNvSpPr txBox="1"/>
          <p:nvPr/>
        </p:nvSpPr>
        <p:spPr>
          <a:xfrm>
            <a:off x="10241280" y="5120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7" name="TextBox 6"/>
          <p:cNvSpPr txBox="1"/>
          <p:nvPr/>
        </p:nvSpPr>
        <p:spPr>
          <a:xfrm>
            <a:off x="5669280" y="457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FFFFFF"/>
                </a:solidFill>
                <a:latin typeface="Calibri"/>
              </a:rPr>
              <a:t>🧮</a:t>
            </a:r>
          </a:p>
        </p:txBody>
      </p:sp>
      <p:sp>
        <p:nvSpPr>
          <p:cNvPr id="8" name="TextBox 7"/>
          <p:cNvSpPr txBox="1"/>
          <p:nvPr/>
        </p:nvSpPr>
        <p:spPr>
          <a:xfrm>
            <a:off x="9144000" y="292608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FFFFFF"/>
                </a:solidFill>
                <a:latin typeface="Calibri"/>
              </a:rPr>
              <a:t>🔥</a:t>
            </a:r>
          </a:p>
        </p:txBody>
      </p:sp>
      <p:sp>
        <p:nvSpPr>
          <p:cNvPr id="9" name="TextBox 8"/>
          <p:cNvSpPr txBox="1"/>
          <p:nvPr/>
        </p:nvSpPr>
        <p:spPr>
          <a:xfrm>
            <a:off x="2377440" y="2743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000" b="0" i="0">
                <a:solidFill>
                  <a:srgbClr val="FFFFFF"/>
                </a:solidFill>
                <a:latin typeface="Calibri"/>
              </a:rPr>
              <a:t>📊</a:t>
            </a:r>
          </a:p>
        </p:txBody>
      </p:sp>
      <p:sp>
        <p:nvSpPr>
          <p:cNvPr id="10" name="Rounded Rectangle 9"/>
          <p:cNvSpPr/>
          <p:nvPr/>
        </p:nvSpPr>
        <p:spPr>
          <a:xfrm>
            <a:off x="2194560" y="1965960"/>
            <a:ext cx="7772400" cy="2926080"/>
          </a:xfrm>
          <a:prstGeom prst="roundRect">
            <a:avLst>
              <a:gd name="adj" fmla="val 10000"/>
            </a:avLst>
          </a:prstGeom>
          <a:solidFill>
            <a:srgbClr val="FFFFFF"/>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1965960"/>
            <a:ext cx="7223760" cy="2926080"/>
          </a:xfrm>
          <a:prstGeom prst="rect">
            <a:avLst/>
          </a:prstGeom>
          <a:noFill/>
        </p:spPr>
        <p:txBody>
          <a:bodyPr wrap="square" anchor="ctr" lIns="76200" rIns="76200" tIns="50800" bIns="50800">
            <a:spAutoFit/>
          </a:bodyPr>
          <a:lstStyle/>
          <a:p>
            <a:pPr algn="ctr">
              <a:lnSpc>
                <a:spcPct val="105000"/>
              </a:lnSpc>
              <a:spcBef>
                <a:spcPts val="0"/>
              </a:spcBef>
              <a:spcAft>
                <a:spcPts val="200"/>
              </a:spcAft>
            </a:pPr>
            <a:r>
              <a:rPr sz="6000" b="0" i="0">
                <a:solidFill>
                  <a:srgbClr val="2E75B6"/>
                </a:solidFill>
                <a:latin typeface="Calibri"/>
              </a:rPr>
              <a:t>🔥</a:t>
            </a:r>
          </a:p>
          <a:p>
            <a:pPr algn="ctr">
              <a:lnSpc>
                <a:spcPct val="105000"/>
              </a:lnSpc>
              <a:spcBef>
                <a:spcPts val="0"/>
              </a:spcBef>
              <a:spcAft>
                <a:spcPts val="600"/>
              </a:spcAft>
            </a:pPr>
            <a:r>
              <a:rPr sz="4400" b="1" i="0">
                <a:solidFill>
                  <a:srgbClr val="1F3864"/>
                </a:solidFill>
                <a:latin typeface="Calibri Light"/>
              </a:rPr>
              <a:t>Rapid Fire</a:t>
            </a:r>
          </a:p>
          <a:p>
            <a:pPr algn="ctr">
              <a:lnSpc>
                <a:spcPct val="105000"/>
              </a:lnSpc>
              <a:spcBef>
                <a:spcPts val="0"/>
              </a:spcBef>
              <a:spcAft>
                <a:spcPts val="400"/>
              </a:spcAft>
            </a:pPr>
            <a:r>
              <a:rPr sz="2000" b="1" i="1">
                <a:solidFill>
                  <a:srgbClr val="3E9BD6"/>
                </a:solidFill>
                <a:latin typeface="Calibri"/>
              </a:rPr>
              <a:t>Pages 41 and 42</a:t>
            </a:r>
          </a:p>
        </p:txBody>
      </p:sp>
      <p:sp>
        <p:nvSpPr>
          <p:cNvPr id="12" name="Rectangle 11"/>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4" name="TextBox 13"/>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ED7D31"/>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Rapid Fire — Tick (✓) the correct option</a:t>
            </a:r>
          </a:p>
          <a:p>
            <a:pPr algn="l">
              <a:lnSpc>
                <a:spcPct val="105000"/>
              </a:lnSpc>
              <a:spcBef>
                <a:spcPts val="200"/>
              </a:spcBef>
              <a:spcAft>
                <a:spcPts val="0"/>
              </a:spcAft>
            </a:pPr>
            <a:r>
              <a:rPr sz="1500" b="0" i="1">
                <a:solidFill>
                  <a:srgbClr val="E6EFF7"/>
                </a:solidFill>
                <a:latin typeface="Calibri"/>
              </a:rPr>
              <a:t>1. Tick (✓) the correct option • Page 41</a:t>
            </a:r>
          </a:p>
        </p:txBody>
      </p:sp>
      <p:sp>
        <p:nvSpPr>
          <p:cNvPr id="5" name="Rounded Rectangle 4"/>
          <p:cNvSpPr/>
          <p:nvPr/>
        </p:nvSpPr>
        <p:spPr>
          <a:xfrm>
            <a:off x="548640" y="1444752"/>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44752"/>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a.  </a:t>
            </a:r>
            <a:r>
              <a:rPr sz="1900" b="1">
                <a:solidFill>
                  <a:srgbClr val="1F3864"/>
                </a:solidFill>
                <a:latin typeface="Calibri"/>
              </a:rPr>
              <a:t>Home tab includes formatting elements such as _____________.</a:t>
            </a:r>
          </a:p>
        </p:txBody>
      </p:sp>
      <p:sp>
        <p:nvSpPr>
          <p:cNvPr id="7" name="TextBox 6"/>
          <p:cNvSpPr txBox="1"/>
          <p:nvPr/>
        </p:nvSpPr>
        <p:spPr>
          <a:xfrm>
            <a:off x="868680" y="1901952"/>
            <a:ext cx="10637215" cy="1389888"/>
          </a:xfrm>
          <a:prstGeom prst="rect">
            <a:avLst/>
          </a:prstGeom>
          <a:noFill/>
        </p:spPr>
        <p:txBody>
          <a:bodyPr wrap="square" anchor="t" lIns="76200" rIns="76200" tIns="50800" bIns="50800">
            <a:spAutoFit/>
          </a:bodyPr>
          <a:lstStyle/>
          <a:p>
            <a:pPr algn="l">
              <a:lnSpc>
                <a:spcPct val="100000"/>
              </a:lnSpc>
              <a:spcBef>
                <a:spcPts val="100"/>
              </a:spcBef>
              <a:spcAft>
                <a:spcPts val="100"/>
              </a:spcAft>
            </a:pPr>
            <a:r>
              <a:rPr sz="1700" b="0" i="0">
                <a:solidFill>
                  <a:srgbClr val="2B2B2B"/>
                </a:solidFill>
                <a:latin typeface="Calibri"/>
              </a:rPr>
              <a:t>○  (i) Text wrap</a:t>
            </a:r>
          </a:p>
          <a:p>
            <a:pPr algn="l">
              <a:lnSpc>
                <a:spcPct val="100000"/>
              </a:lnSpc>
              <a:spcBef>
                <a:spcPts val="100"/>
              </a:spcBef>
              <a:spcAft>
                <a:spcPts val="100"/>
              </a:spcAft>
            </a:pPr>
            <a:r>
              <a:rPr sz="1700" b="0" i="0">
                <a:solidFill>
                  <a:srgbClr val="2B2B2B"/>
                </a:solidFill>
                <a:latin typeface="Calibri"/>
              </a:rPr>
              <a:t>○  (ii) Merging cells</a:t>
            </a:r>
          </a:p>
          <a:p>
            <a:pPr algn="l">
              <a:lnSpc>
                <a:spcPct val="100000"/>
              </a:lnSpc>
              <a:spcBef>
                <a:spcPts val="100"/>
              </a:spcBef>
              <a:spcAft>
                <a:spcPts val="100"/>
              </a:spcAft>
            </a:pPr>
            <a:r>
              <a:rPr sz="1700" b="0" i="0">
                <a:solidFill>
                  <a:srgbClr val="2B2B2B"/>
                </a:solidFill>
                <a:latin typeface="Calibri"/>
              </a:rPr>
              <a:t>○  (iii) Cell style</a:t>
            </a:r>
          </a:p>
          <a:p>
            <a:pPr algn="l">
              <a:lnSpc>
                <a:spcPct val="100000"/>
              </a:lnSpc>
              <a:spcBef>
                <a:spcPts val="100"/>
              </a:spcBef>
              <a:spcAft>
                <a:spcPts val="100"/>
              </a:spcAft>
            </a:pPr>
            <a:r>
              <a:rPr sz="1700" b="0" i="0">
                <a:solidFill>
                  <a:srgbClr val="2B2B2B"/>
                </a:solidFill>
                <a:latin typeface="Calibri"/>
              </a:rPr>
              <a:t>○  (iv) All of the above</a:t>
            </a:r>
          </a:p>
        </p:txBody>
      </p:sp>
      <p:sp>
        <p:nvSpPr>
          <p:cNvPr id="8" name="Rounded Rectangle 7"/>
          <p:cNvSpPr/>
          <p:nvPr/>
        </p:nvSpPr>
        <p:spPr>
          <a:xfrm>
            <a:off x="868680" y="3337560"/>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337560"/>
            <a:ext cx="10408615" cy="457200"/>
          </a:xfrm>
          <a:prstGeom prst="rect">
            <a:avLst/>
          </a:prstGeom>
          <a:noFill/>
        </p:spPr>
        <p:txBody>
          <a:bodyPr wrap="square" anchor="ctr" lIns="76200" rIns="76200" tIns="50800" bIns="50800">
            <a:spAutoFit/>
          </a:bodyPr>
          <a:lstStyle/>
          <a:p>
            <a:pPr>
              <a:lnSpc>
                <a:spcPct val="102000"/>
              </a:lnSpc>
            </a:pPr>
            <a:r>
              <a:rPr sz="1800" b="1">
                <a:solidFill>
                  <a:srgbClr val="2E7D32"/>
                </a:solidFill>
                <a:latin typeface="Calibri"/>
              </a:rPr>
              <a:t>✅ Answer: </a:t>
            </a:r>
            <a:r>
              <a:rPr sz="1800" b="1">
                <a:solidFill>
                  <a:srgbClr val="2E7D32"/>
                </a:solidFill>
                <a:latin typeface="Calibri"/>
              </a:rPr>
              <a:t>(iv) All of the above</a:t>
            </a:r>
          </a:p>
        </p:txBody>
      </p:sp>
      <p:sp>
        <p:nvSpPr>
          <p:cNvPr id="10" name="Rounded Rectangle 9"/>
          <p:cNvSpPr/>
          <p:nvPr/>
        </p:nvSpPr>
        <p:spPr>
          <a:xfrm>
            <a:off x="548640" y="397764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977640"/>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b.  </a:t>
            </a:r>
            <a:r>
              <a:rPr sz="1900" b="1">
                <a:solidFill>
                  <a:srgbClr val="1F3864"/>
                </a:solidFill>
                <a:latin typeface="Calibri"/>
              </a:rPr>
              <a:t>By right-clicking on the sheet tab, we can rename the ____________.</a:t>
            </a:r>
          </a:p>
        </p:txBody>
      </p:sp>
      <p:sp>
        <p:nvSpPr>
          <p:cNvPr id="12" name="TextBox 11"/>
          <p:cNvSpPr txBox="1"/>
          <p:nvPr/>
        </p:nvSpPr>
        <p:spPr>
          <a:xfrm>
            <a:off x="868680" y="4434840"/>
            <a:ext cx="10637215" cy="1389888"/>
          </a:xfrm>
          <a:prstGeom prst="rect">
            <a:avLst/>
          </a:prstGeom>
          <a:noFill/>
        </p:spPr>
        <p:txBody>
          <a:bodyPr wrap="square" anchor="t" lIns="76200" rIns="76200" tIns="50800" bIns="50800">
            <a:spAutoFit/>
          </a:bodyPr>
          <a:lstStyle/>
          <a:p>
            <a:pPr algn="l">
              <a:lnSpc>
                <a:spcPct val="100000"/>
              </a:lnSpc>
              <a:spcBef>
                <a:spcPts val="100"/>
              </a:spcBef>
              <a:spcAft>
                <a:spcPts val="100"/>
              </a:spcAft>
            </a:pPr>
            <a:r>
              <a:rPr sz="1700" b="0" i="0">
                <a:solidFill>
                  <a:srgbClr val="2B2B2B"/>
                </a:solidFill>
                <a:latin typeface="Calibri"/>
              </a:rPr>
              <a:t>○  (i) Workbook</a:t>
            </a:r>
          </a:p>
          <a:p>
            <a:pPr algn="l">
              <a:lnSpc>
                <a:spcPct val="100000"/>
              </a:lnSpc>
              <a:spcBef>
                <a:spcPts val="100"/>
              </a:spcBef>
              <a:spcAft>
                <a:spcPts val="100"/>
              </a:spcAft>
            </a:pPr>
            <a:r>
              <a:rPr sz="1700" b="0" i="0">
                <a:solidFill>
                  <a:srgbClr val="2B2B2B"/>
                </a:solidFill>
                <a:latin typeface="Calibri"/>
              </a:rPr>
              <a:t>○  (ii) Cell</a:t>
            </a:r>
          </a:p>
          <a:p>
            <a:pPr algn="l">
              <a:lnSpc>
                <a:spcPct val="100000"/>
              </a:lnSpc>
              <a:spcBef>
                <a:spcPts val="100"/>
              </a:spcBef>
              <a:spcAft>
                <a:spcPts val="100"/>
              </a:spcAft>
            </a:pPr>
            <a:r>
              <a:rPr sz="1700" b="0" i="0">
                <a:solidFill>
                  <a:srgbClr val="2B2B2B"/>
                </a:solidFill>
                <a:latin typeface="Calibri"/>
              </a:rPr>
              <a:t>○  (iii) Worksheet</a:t>
            </a:r>
          </a:p>
          <a:p>
            <a:pPr algn="l">
              <a:lnSpc>
                <a:spcPct val="100000"/>
              </a:lnSpc>
              <a:spcBef>
                <a:spcPts val="100"/>
              </a:spcBef>
              <a:spcAft>
                <a:spcPts val="100"/>
              </a:spcAft>
            </a:pPr>
            <a:r>
              <a:rPr sz="1700" b="0" i="0">
                <a:solidFill>
                  <a:srgbClr val="2B2B2B"/>
                </a:solidFill>
                <a:latin typeface="Calibri"/>
              </a:rPr>
              <a:t>○  (iv) Column</a:t>
            </a:r>
          </a:p>
        </p:txBody>
      </p:sp>
      <p:sp>
        <p:nvSpPr>
          <p:cNvPr id="13" name="Rounded Rectangle 12"/>
          <p:cNvSpPr/>
          <p:nvPr/>
        </p:nvSpPr>
        <p:spPr>
          <a:xfrm>
            <a:off x="868680" y="5870448"/>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870448"/>
            <a:ext cx="10408615" cy="457200"/>
          </a:xfrm>
          <a:prstGeom prst="rect">
            <a:avLst/>
          </a:prstGeom>
          <a:noFill/>
        </p:spPr>
        <p:txBody>
          <a:bodyPr wrap="square" anchor="ctr" lIns="76200" rIns="76200" tIns="50800" bIns="50800">
            <a:spAutoFit/>
          </a:bodyPr>
          <a:lstStyle/>
          <a:p>
            <a:pPr>
              <a:lnSpc>
                <a:spcPct val="102000"/>
              </a:lnSpc>
            </a:pPr>
            <a:r>
              <a:rPr sz="1800" b="1">
                <a:solidFill>
                  <a:srgbClr val="2E7D32"/>
                </a:solidFill>
                <a:latin typeface="Calibri"/>
              </a:rPr>
              <a:t>✅ Answer: </a:t>
            </a:r>
            <a:r>
              <a:rPr sz="1800" b="1">
                <a:solidFill>
                  <a:srgbClr val="2E7D32"/>
                </a:solidFill>
                <a:latin typeface="Calibri"/>
              </a:rPr>
              <a:t>(iii) Worksheet</a:t>
            </a:r>
          </a:p>
        </p:txBody>
      </p:sp>
      <p:sp>
        <p:nvSpPr>
          <p:cNvPr id="15" name="Rectangle 14"/>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7" name="TextBox 16"/>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animEffect transition="in" filter="fade">
                                      <p:cBhvr>
                                        <p:cTn id="16" dur="500"/>
                                        <p:tgtEl>
                                          <p:spTgt spid="8"/>
                                        </p:tgtEl>
                                      </p:cBhvr>
                                    </p:animEffec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animEffect transition="in" filter="fade">
                                      <p:cBhvr>
                                        <p:cTn id="21" dur="500"/>
                                        <p:tgtEl>
                                          <p:spTgt spid="10"/>
                                        </p:tgtEl>
                                      </p:cBhvr>
                                    </p:animEffec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animEffect transition="in" filter="fade">
                                      <p:cBhvr>
                                        <p:cTn id="26" dur="500"/>
                                        <p:tgtEl>
                                          <p:spTgt spid="12"/>
                                        </p:tgtEl>
                                      </p:cBhvr>
                                    </p:animEffect>
                                    <p:set>
                                      <p:cBhvr>
                                        <p:cTn id="27" dur="1" fill="hold">
                                          <p:stCondLst>
                                            <p:cond delay="0"/>
                                          </p:stCondLst>
                                        </p:cTn>
                                        <p:tgtEl>
                                          <p:spTgt spid="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animEffect transition="in" filter="fade">
                                      <p:cBhvr>
                                        <p:cTn id="31" dur="500"/>
                                        <p:tgtEl>
                                          <p:spTgt spid="13"/>
                                        </p:tgtEl>
                                      </p:cBhvr>
                                    </p:animEffec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ED7D31"/>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Rapid Fire — Tick (✓) the correct option</a:t>
            </a:r>
          </a:p>
          <a:p>
            <a:pPr algn="l">
              <a:lnSpc>
                <a:spcPct val="105000"/>
              </a:lnSpc>
              <a:spcBef>
                <a:spcPts val="200"/>
              </a:spcBef>
              <a:spcAft>
                <a:spcPts val="0"/>
              </a:spcAft>
            </a:pPr>
            <a:r>
              <a:rPr sz="1500" b="0" i="1">
                <a:solidFill>
                  <a:srgbClr val="E6EFF7"/>
                </a:solidFill>
                <a:latin typeface="Calibri"/>
              </a:rPr>
              <a:t>1. Tick (✓) the correct option • Page 41</a:t>
            </a:r>
          </a:p>
        </p:txBody>
      </p:sp>
      <p:sp>
        <p:nvSpPr>
          <p:cNvPr id="5" name="Rounded Rectangle 4"/>
          <p:cNvSpPr/>
          <p:nvPr/>
        </p:nvSpPr>
        <p:spPr>
          <a:xfrm>
            <a:off x="548640" y="1444752"/>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44752"/>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c.  </a:t>
            </a:r>
            <a:r>
              <a:rPr sz="1900" b="1">
                <a:solidFill>
                  <a:srgbClr val="1F3864"/>
                </a:solidFill>
                <a:latin typeface="Calibri"/>
              </a:rPr>
              <a:t>You can specify a column width of 0 to __________.</a:t>
            </a:r>
          </a:p>
        </p:txBody>
      </p:sp>
      <p:sp>
        <p:nvSpPr>
          <p:cNvPr id="7" name="TextBox 6"/>
          <p:cNvSpPr txBox="1"/>
          <p:nvPr/>
        </p:nvSpPr>
        <p:spPr>
          <a:xfrm>
            <a:off x="868680" y="1901952"/>
            <a:ext cx="10637215" cy="1389888"/>
          </a:xfrm>
          <a:prstGeom prst="rect">
            <a:avLst/>
          </a:prstGeom>
          <a:noFill/>
        </p:spPr>
        <p:txBody>
          <a:bodyPr wrap="square" anchor="t" lIns="76200" rIns="76200" tIns="50800" bIns="50800">
            <a:spAutoFit/>
          </a:bodyPr>
          <a:lstStyle/>
          <a:p>
            <a:pPr algn="l">
              <a:lnSpc>
                <a:spcPct val="100000"/>
              </a:lnSpc>
              <a:spcBef>
                <a:spcPts val="100"/>
              </a:spcBef>
              <a:spcAft>
                <a:spcPts val="100"/>
              </a:spcAft>
            </a:pPr>
            <a:r>
              <a:rPr sz="1700" b="0" i="0">
                <a:solidFill>
                  <a:srgbClr val="2B2B2B"/>
                </a:solidFill>
                <a:latin typeface="Calibri"/>
              </a:rPr>
              <a:t>○  (i) 255</a:t>
            </a:r>
          </a:p>
          <a:p>
            <a:pPr algn="l">
              <a:lnSpc>
                <a:spcPct val="100000"/>
              </a:lnSpc>
              <a:spcBef>
                <a:spcPts val="100"/>
              </a:spcBef>
              <a:spcAft>
                <a:spcPts val="100"/>
              </a:spcAft>
            </a:pPr>
            <a:r>
              <a:rPr sz="1700" b="0" i="0">
                <a:solidFill>
                  <a:srgbClr val="2B2B2B"/>
                </a:solidFill>
                <a:latin typeface="Calibri"/>
              </a:rPr>
              <a:t>○  (ii) 256</a:t>
            </a:r>
          </a:p>
          <a:p>
            <a:pPr algn="l">
              <a:lnSpc>
                <a:spcPct val="100000"/>
              </a:lnSpc>
              <a:spcBef>
                <a:spcPts val="100"/>
              </a:spcBef>
              <a:spcAft>
                <a:spcPts val="100"/>
              </a:spcAft>
            </a:pPr>
            <a:r>
              <a:rPr sz="1700" b="0" i="0">
                <a:solidFill>
                  <a:srgbClr val="2B2B2B"/>
                </a:solidFill>
                <a:latin typeface="Calibri"/>
              </a:rPr>
              <a:t>○  (iii) 409</a:t>
            </a:r>
          </a:p>
          <a:p>
            <a:pPr algn="l">
              <a:lnSpc>
                <a:spcPct val="100000"/>
              </a:lnSpc>
              <a:spcBef>
                <a:spcPts val="100"/>
              </a:spcBef>
              <a:spcAft>
                <a:spcPts val="100"/>
              </a:spcAft>
            </a:pPr>
            <a:r>
              <a:rPr sz="1700" b="0" i="0">
                <a:solidFill>
                  <a:srgbClr val="2B2B2B"/>
                </a:solidFill>
                <a:latin typeface="Calibri"/>
              </a:rPr>
              <a:t>○  (iv) 290</a:t>
            </a:r>
          </a:p>
        </p:txBody>
      </p:sp>
      <p:sp>
        <p:nvSpPr>
          <p:cNvPr id="8" name="Rounded Rectangle 7"/>
          <p:cNvSpPr/>
          <p:nvPr/>
        </p:nvSpPr>
        <p:spPr>
          <a:xfrm>
            <a:off x="868680" y="3337560"/>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337560"/>
            <a:ext cx="10408615" cy="457200"/>
          </a:xfrm>
          <a:prstGeom prst="rect">
            <a:avLst/>
          </a:prstGeom>
          <a:noFill/>
        </p:spPr>
        <p:txBody>
          <a:bodyPr wrap="square" anchor="ctr" lIns="76200" rIns="76200" tIns="50800" bIns="50800">
            <a:spAutoFit/>
          </a:bodyPr>
          <a:lstStyle/>
          <a:p>
            <a:pPr>
              <a:lnSpc>
                <a:spcPct val="102000"/>
              </a:lnSpc>
            </a:pPr>
            <a:r>
              <a:rPr sz="1800" b="1">
                <a:solidFill>
                  <a:srgbClr val="2E7D32"/>
                </a:solidFill>
                <a:latin typeface="Calibri"/>
              </a:rPr>
              <a:t>✅ Answer: </a:t>
            </a:r>
            <a:r>
              <a:rPr sz="1800" b="1">
                <a:solidFill>
                  <a:srgbClr val="2E7D32"/>
                </a:solidFill>
                <a:latin typeface="Calibri"/>
              </a:rPr>
              <a:t>(i) 255</a:t>
            </a:r>
          </a:p>
        </p:txBody>
      </p:sp>
      <p:sp>
        <p:nvSpPr>
          <p:cNvPr id="10" name="Rounded Rectangle 9"/>
          <p:cNvSpPr/>
          <p:nvPr/>
        </p:nvSpPr>
        <p:spPr>
          <a:xfrm>
            <a:off x="548640" y="397764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977640"/>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d.  </a:t>
            </a:r>
            <a:r>
              <a:rPr sz="1900" b="1">
                <a:solidFill>
                  <a:srgbClr val="1F3864"/>
                </a:solidFill>
                <a:latin typeface="Calibri"/>
              </a:rPr>
              <a:t>We can edit the contents of a cell by ___________ on it.</a:t>
            </a:r>
          </a:p>
        </p:txBody>
      </p:sp>
      <p:sp>
        <p:nvSpPr>
          <p:cNvPr id="12" name="TextBox 11"/>
          <p:cNvSpPr txBox="1"/>
          <p:nvPr/>
        </p:nvSpPr>
        <p:spPr>
          <a:xfrm>
            <a:off x="868680" y="4434840"/>
            <a:ext cx="10637215" cy="1389888"/>
          </a:xfrm>
          <a:prstGeom prst="rect">
            <a:avLst/>
          </a:prstGeom>
          <a:noFill/>
        </p:spPr>
        <p:txBody>
          <a:bodyPr wrap="square" anchor="t" lIns="76200" rIns="76200" tIns="50800" bIns="50800">
            <a:spAutoFit/>
          </a:bodyPr>
          <a:lstStyle/>
          <a:p>
            <a:pPr algn="l">
              <a:lnSpc>
                <a:spcPct val="100000"/>
              </a:lnSpc>
              <a:spcBef>
                <a:spcPts val="100"/>
              </a:spcBef>
              <a:spcAft>
                <a:spcPts val="100"/>
              </a:spcAft>
            </a:pPr>
            <a:r>
              <a:rPr sz="1700" b="0" i="0">
                <a:solidFill>
                  <a:srgbClr val="2B2B2B"/>
                </a:solidFill>
                <a:latin typeface="Calibri"/>
              </a:rPr>
              <a:t>○  (i) Right-clicking</a:t>
            </a:r>
          </a:p>
          <a:p>
            <a:pPr algn="l">
              <a:lnSpc>
                <a:spcPct val="100000"/>
              </a:lnSpc>
              <a:spcBef>
                <a:spcPts val="100"/>
              </a:spcBef>
              <a:spcAft>
                <a:spcPts val="100"/>
              </a:spcAft>
            </a:pPr>
            <a:r>
              <a:rPr sz="1700" b="0" i="0">
                <a:solidFill>
                  <a:srgbClr val="2B2B2B"/>
                </a:solidFill>
                <a:latin typeface="Calibri"/>
              </a:rPr>
              <a:t>○  (ii) Double-clicking</a:t>
            </a:r>
          </a:p>
          <a:p>
            <a:pPr algn="l">
              <a:lnSpc>
                <a:spcPct val="100000"/>
              </a:lnSpc>
              <a:spcBef>
                <a:spcPts val="100"/>
              </a:spcBef>
              <a:spcAft>
                <a:spcPts val="100"/>
              </a:spcAft>
            </a:pPr>
            <a:r>
              <a:rPr sz="1700" b="0" i="0">
                <a:solidFill>
                  <a:srgbClr val="2B2B2B"/>
                </a:solidFill>
                <a:latin typeface="Calibri"/>
              </a:rPr>
              <a:t>○  (iii) Clicking</a:t>
            </a:r>
          </a:p>
          <a:p>
            <a:pPr algn="l">
              <a:lnSpc>
                <a:spcPct val="100000"/>
              </a:lnSpc>
              <a:spcBef>
                <a:spcPts val="100"/>
              </a:spcBef>
              <a:spcAft>
                <a:spcPts val="100"/>
              </a:spcAft>
            </a:pPr>
            <a:r>
              <a:rPr sz="1700" b="0" i="0">
                <a:solidFill>
                  <a:srgbClr val="2B2B2B"/>
                </a:solidFill>
                <a:latin typeface="Calibri"/>
              </a:rPr>
              <a:t>○  (iv) We cannot edit cell content</a:t>
            </a:r>
          </a:p>
        </p:txBody>
      </p:sp>
      <p:sp>
        <p:nvSpPr>
          <p:cNvPr id="13" name="Rounded Rectangle 12"/>
          <p:cNvSpPr/>
          <p:nvPr/>
        </p:nvSpPr>
        <p:spPr>
          <a:xfrm>
            <a:off x="868680" y="5870448"/>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870448"/>
            <a:ext cx="10408615" cy="457200"/>
          </a:xfrm>
          <a:prstGeom prst="rect">
            <a:avLst/>
          </a:prstGeom>
          <a:noFill/>
        </p:spPr>
        <p:txBody>
          <a:bodyPr wrap="square" anchor="ctr" lIns="76200" rIns="76200" tIns="50800" bIns="50800">
            <a:spAutoFit/>
          </a:bodyPr>
          <a:lstStyle/>
          <a:p>
            <a:pPr>
              <a:lnSpc>
                <a:spcPct val="102000"/>
              </a:lnSpc>
            </a:pPr>
            <a:r>
              <a:rPr sz="1800" b="1">
                <a:solidFill>
                  <a:srgbClr val="2E7D32"/>
                </a:solidFill>
                <a:latin typeface="Calibri"/>
              </a:rPr>
              <a:t>✅ Answer: </a:t>
            </a:r>
            <a:r>
              <a:rPr sz="1800" b="1">
                <a:solidFill>
                  <a:srgbClr val="2E7D32"/>
                </a:solidFill>
                <a:latin typeface="Calibri"/>
              </a:rPr>
              <a:t>(ii) Double-clicking</a:t>
            </a:r>
          </a:p>
        </p:txBody>
      </p:sp>
      <p:sp>
        <p:nvSpPr>
          <p:cNvPr id="15" name="Rectangle 14"/>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7" name="TextBox 16"/>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animEffect transition="in" filter="fade">
                                      <p:cBhvr>
                                        <p:cTn id="16" dur="500"/>
                                        <p:tgtEl>
                                          <p:spTgt spid="8"/>
                                        </p:tgtEl>
                                      </p:cBhvr>
                                    </p:animEffec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animEffect transition="in" filter="fade">
                                      <p:cBhvr>
                                        <p:cTn id="21" dur="500"/>
                                        <p:tgtEl>
                                          <p:spTgt spid="10"/>
                                        </p:tgtEl>
                                      </p:cBhvr>
                                    </p:animEffec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animEffect transition="in" filter="fade">
                                      <p:cBhvr>
                                        <p:cTn id="26" dur="500"/>
                                        <p:tgtEl>
                                          <p:spTgt spid="12"/>
                                        </p:tgtEl>
                                      </p:cBhvr>
                                    </p:animEffect>
                                    <p:set>
                                      <p:cBhvr>
                                        <p:cTn id="27" dur="1" fill="hold">
                                          <p:stCondLst>
                                            <p:cond delay="0"/>
                                          </p:stCondLst>
                                        </p:cTn>
                                        <p:tgtEl>
                                          <p:spTgt spid="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animEffect transition="in" filter="fade">
                                      <p:cBhvr>
                                        <p:cTn id="31" dur="500"/>
                                        <p:tgtEl>
                                          <p:spTgt spid="13"/>
                                        </p:tgtEl>
                                      </p:cBhvr>
                                    </p:animEffec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ED7D31"/>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Rapid Fire — Tick (✓) the correct option</a:t>
            </a:r>
          </a:p>
          <a:p>
            <a:pPr algn="l">
              <a:lnSpc>
                <a:spcPct val="105000"/>
              </a:lnSpc>
              <a:spcBef>
                <a:spcPts val="200"/>
              </a:spcBef>
              <a:spcAft>
                <a:spcPts val="0"/>
              </a:spcAft>
            </a:pPr>
            <a:r>
              <a:rPr sz="1500" b="0" i="1">
                <a:solidFill>
                  <a:srgbClr val="E6EFF7"/>
                </a:solidFill>
                <a:latin typeface="Calibri"/>
              </a:rPr>
              <a:t>1. Tick (✓) the correct option • Page 41</a:t>
            </a:r>
          </a:p>
        </p:txBody>
      </p:sp>
      <p:sp>
        <p:nvSpPr>
          <p:cNvPr id="5" name="Rounded Rectangle 4"/>
          <p:cNvSpPr/>
          <p:nvPr/>
        </p:nvSpPr>
        <p:spPr>
          <a:xfrm>
            <a:off x="548640" y="1444752"/>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44752"/>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e.  </a:t>
            </a:r>
            <a:r>
              <a:rPr sz="1900" b="1">
                <a:solidFill>
                  <a:srgbClr val="1F3864"/>
                </a:solidFill>
                <a:latin typeface="Calibri"/>
              </a:rPr>
              <a:t>The ____________ command is used for wrapping text in a cell.</a:t>
            </a:r>
          </a:p>
        </p:txBody>
      </p:sp>
      <p:sp>
        <p:nvSpPr>
          <p:cNvPr id="7" name="TextBox 6"/>
          <p:cNvSpPr txBox="1"/>
          <p:nvPr/>
        </p:nvSpPr>
        <p:spPr>
          <a:xfrm>
            <a:off x="868680" y="1901952"/>
            <a:ext cx="10637215" cy="1389888"/>
          </a:xfrm>
          <a:prstGeom prst="rect">
            <a:avLst/>
          </a:prstGeom>
          <a:noFill/>
        </p:spPr>
        <p:txBody>
          <a:bodyPr wrap="square" anchor="t" lIns="76200" rIns="76200" tIns="50800" bIns="50800">
            <a:spAutoFit/>
          </a:bodyPr>
          <a:lstStyle/>
          <a:p>
            <a:pPr algn="l">
              <a:lnSpc>
                <a:spcPct val="100000"/>
              </a:lnSpc>
              <a:spcBef>
                <a:spcPts val="100"/>
              </a:spcBef>
              <a:spcAft>
                <a:spcPts val="100"/>
              </a:spcAft>
            </a:pPr>
            <a:r>
              <a:rPr sz="1700" b="0" i="0">
                <a:solidFill>
                  <a:srgbClr val="2B2B2B"/>
                </a:solidFill>
                <a:latin typeface="Calibri"/>
              </a:rPr>
              <a:t>○  (i) Wrap Text</a:t>
            </a:r>
          </a:p>
          <a:p>
            <a:pPr algn="l">
              <a:lnSpc>
                <a:spcPct val="100000"/>
              </a:lnSpc>
              <a:spcBef>
                <a:spcPts val="100"/>
              </a:spcBef>
              <a:spcAft>
                <a:spcPts val="100"/>
              </a:spcAft>
            </a:pPr>
            <a:r>
              <a:rPr sz="1700" b="0" i="0">
                <a:solidFill>
                  <a:srgbClr val="2B2B2B"/>
                </a:solidFill>
                <a:latin typeface="Calibri"/>
              </a:rPr>
              <a:t>○  (ii) Text Wrap</a:t>
            </a:r>
          </a:p>
          <a:p>
            <a:pPr algn="l">
              <a:lnSpc>
                <a:spcPct val="100000"/>
              </a:lnSpc>
              <a:spcBef>
                <a:spcPts val="100"/>
              </a:spcBef>
              <a:spcAft>
                <a:spcPts val="100"/>
              </a:spcAft>
            </a:pPr>
            <a:r>
              <a:rPr sz="1700" b="0" i="0">
                <a:solidFill>
                  <a:srgbClr val="2B2B2B"/>
                </a:solidFill>
                <a:latin typeface="Calibri"/>
              </a:rPr>
              <a:t>○  (iii) Wrap</a:t>
            </a:r>
          </a:p>
          <a:p>
            <a:pPr algn="l">
              <a:lnSpc>
                <a:spcPct val="100000"/>
              </a:lnSpc>
              <a:spcBef>
                <a:spcPts val="100"/>
              </a:spcBef>
              <a:spcAft>
                <a:spcPts val="100"/>
              </a:spcAft>
            </a:pPr>
            <a:r>
              <a:rPr sz="1700" b="0" i="0">
                <a:solidFill>
                  <a:srgbClr val="2B2B2B"/>
                </a:solidFill>
                <a:latin typeface="Calibri"/>
              </a:rPr>
              <a:t>○  (iv) Wrapping</a:t>
            </a:r>
          </a:p>
        </p:txBody>
      </p:sp>
      <p:sp>
        <p:nvSpPr>
          <p:cNvPr id="8" name="Rounded Rectangle 7"/>
          <p:cNvSpPr/>
          <p:nvPr/>
        </p:nvSpPr>
        <p:spPr>
          <a:xfrm>
            <a:off x="868680" y="3337560"/>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337560"/>
            <a:ext cx="10408615" cy="457200"/>
          </a:xfrm>
          <a:prstGeom prst="rect">
            <a:avLst/>
          </a:prstGeom>
          <a:noFill/>
        </p:spPr>
        <p:txBody>
          <a:bodyPr wrap="square" anchor="ctr" lIns="76200" rIns="76200" tIns="50800" bIns="50800">
            <a:spAutoFit/>
          </a:bodyPr>
          <a:lstStyle/>
          <a:p>
            <a:pPr>
              <a:lnSpc>
                <a:spcPct val="102000"/>
              </a:lnSpc>
            </a:pPr>
            <a:r>
              <a:rPr sz="1800" b="1">
                <a:solidFill>
                  <a:srgbClr val="2E7D32"/>
                </a:solidFill>
                <a:latin typeface="Calibri"/>
              </a:rPr>
              <a:t>✅ Answer: </a:t>
            </a:r>
            <a:r>
              <a:rPr sz="1800" b="1">
                <a:solidFill>
                  <a:srgbClr val="2E7D32"/>
                </a:solidFill>
                <a:latin typeface="Calibri"/>
              </a:rPr>
              <a:t>(i) Wrap Text</a:t>
            </a:r>
          </a:p>
        </p:txBody>
      </p:sp>
      <p:sp>
        <p:nvSpPr>
          <p:cNvPr id="10" name="Rectangle 9"/>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2" name="TextBox 11"/>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animEffect transition="in" filter="fade">
                                      <p:cBhvr>
                                        <p:cTn id="16" dur="500"/>
                                        <p:tgtEl>
                                          <p:spTgt spid="8"/>
                                        </p:tgtEl>
                                      </p:cBhvr>
                                    </p:animEffect>
                                    <p:set>
                                      <p:cBhvr>
                                        <p:cTn id="1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5B6"/>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Rapid Fire — True or False</a:t>
            </a:r>
          </a:p>
          <a:p>
            <a:pPr algn="l">
              <a:lnSpc>
                <a:spcPct val="105000"/>
              </a:lnSpc>
              <a:spcBef>
                <a:spcPts val="200"/>
              </a:spcBef>
              <a:spcAft>
                <a:spcPts val="0"/>
              </a:spcAft>
            </a:pPr>
            <a:r>
              <a:rPr sz="1500" b="0" i="1">
                <a:solidFill>
                  <a:srgbClr val="E6EFF7"/>
                </a:solidFill>
                <a:latin typeface="Calibri"/>
              </a:rPr>
              <a:t>2. Write 'T' for true and 'F' for false • Page 42</a:t>
            </a:r>
          </a:p>
        </p:txBody>
      </p:sp>
      <p:sp>
        <p:nvSpPr>
          <p:cNvPr id="5" name="TextBox 4"/>
          <p:cNvSpPr txBox="1"/>
          <p:nvPr/>
        </p:nvSpPr>
        <p:spPr>
          <a:xfrm>
            <a:off x="548640" y="1463040"/>
            <a:ext cx="11094415" cy="365760"/>
          </a:xfrm>
          <a:prstGeom prst="rect">
            <a:avLst/>
          </a:prstGeom>
          <a:noFill/>
        </p:spPr>
        <p:txBody>
          <a:bodyPr wrap="square" anchor="t" lIns="76200" rIns="76200" tIns="50800" bIns="50800">
            <a:spAutoFit/>
          </a:bodyPr>
          <a:lstStyle/>
          <a:p>
            <a:pPr algn="l">
              <a:lnSpc>
                <a:spcPct val="105000"/>
              </a:lnSpc>
              <a:spcBef>
                <a:spcPts val="0"/>
              </a:spcBef>
              <a:spcAft>
                <a:spcPts val="0"/>
              </a:spcAft>
            </a:pPr>
            <a:r>
              <a:rPr sz="1700" b="1" i="1">
                <a:solidFill>
                  <a:srgbClr val="707070"/>
                </a:solidFill>
                <a:latin typeface="Calibri"/>
              </a:rPr>
              <a:t>Write 'T' for true and 'F' for false:</a:t>
            </a:r>
          </a:p>
        </p:txBody>
      </p:sp>
      <p:sp>
        <p:nvSpPr>
          <p:cNvPr id="6" name="Rounded Rectangle 5"/>
          <p:cNvSpPr/>
          <p:nvPr/>
        </p:nvSpPr>
        <p:spPr>
          <a:xfrm>
            <a:off x="548640" y="192024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20240"/>
            <a:ext cx="10820095" cy="411480"/>
          </a:xfrm>
          <a:prstGeom prst="rect">
            <a:avLst/>
          </a:prstGeom>
          <a:noFill/>
        </p:spPr>
        <p:txBody>
          <a:bodyPr wrap="square" anchor="ctr" lIns="76200" rIns="76200" tIns="50800" bIns="50800">
            <a:spAutoFit/>
          </a:bodyPr>
          <a:lstStyle/>
          <a:p>
            <a:pPr>
              <a:lnSpc>
                <a:spcPct val="100000"/>
              </a:lnSpc>
            </a:pPr>
            <a:r>
              <a:rPr sz="2000" b="1">
                <a:solidFill>
                  <a:srgbClr val="ED7D31"/>
                </a:solidFill>
                <a:latin typeface="Calibri"/>
              </a:rPr>
              <a:t>a.  </a:t>
            </a:r>
            <a:r>
              <a:rPr sz="2000" b="1">
                <a:solidFill>
                  <a:srgbClr val="1F3864"/>
                </a:solidFill>
                <a:latin typeface="Calibri"/>
              </a:rPr>
              <a:t>We cannot select more than one cell at a time in an Excel worksheet.</a:t>
            </a:r>
          </a:p>
        </p:txBody>
      </p:sp>
      <p:sp>
        <p:nvSpPr>
          <p:cNvPr id="8" name="Rounded Rectangle 7"/>
          <p:cNvSpPr/>
          <p:nvPr/>
        </p:nvSpPr>
        <p:spPr>
          <a:xfrm>
            <a:off x="868680" y="2404872"/>
            <a:ext cx="10774375" cy="457200"/>
          </a:xfrm>
          <a:prstGeom prst="roundRect">
            <a:avLst>
              <a:gd name="adj" fmla="val 18000"/>
            </a:avLst>
          </a:prstGeom>
          <a:solidFill>
            <a:srgbClr val="FDEAEA"/>
          </a:solidFill>
          <a:ln w="22225">
            <a:solidFill>
              <a:srgbClr val="E57373"/>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04872"/>
            <a:ext cx="10408615" cy="457200"/>
          </a:xfrm>
          <a:prstGeom prst="rect">
            <a:avLst/>
          </a:prstGeom>
          <a:noFill/>
        </p:spPr>
        <p:txBody>
          <a:bodyPr wrap="square" anchor="ctr" lIns="76200" rIns="76200" tIns="50800" bIns="50800">
            <a:spAutoFit/>
          </a:bodyPr>
          <a:lstStyle/>
          <a:p>
            <a:pPr>
              <a:lnSpc>
                <a:spcPct val="102000"/>
              </a:lnSpc>
            </a:pPr>
            <a:r>
              <a:rPr sz="1900" b="1">
                <a:solidFill>
                  <a:srgbClr val="D32F2F"/>
                </a:solidFill>
                <a:latin typeface="Calibri"/>
              </a:rPr>
              <a:t>❌ Answer: </a:t>
            </a:r>
            <a:r>
              <a:rPr sz="1900" b="1">
                <a:solidFill>
                  <a:srgbClr val="D32F2F"/>
                </a:solidFill>
                <a:latin typeface="Calibri"/>
              </a:rPr>
              <a:t>F (False) (We can easily select a group or range of cells).</a:t>
            </a:r>
          </a:p>
        </p:txBody>
      </p:sp>
      <p:sp>
        <p:nvSpPr>
          <p:cNvPr id="10" name="Rounded Rectangle 9"/>
          <p:cNvSpPr/>
          <p:nvPr/>
        </p:nvSpPr>
        <p:spPr>
          <a:xfrm>
            <a:off x="548640" y="3136392"/>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136392"/>
            <a:ext cx="10820095" cy="411480"/>
          </a:xfrm>
          <a:prstGeom prst="rect">
            <a:avLst/>
          </a:prstGeom>
          <a:noFill/>
        </p:spPr>
        <p:txBody>
          <a:bodyPr wrap="square" anchor="ctr" lIns="76200" rIns="76200" tIns="50800" bIns="50800">
            <a:spAutoFit/>
          </a:bodyPr>
          <a:lstStyle/>
          <a:p>
            <a:pPr>
              <a:lnSpc>
                <a:spcPct val="100000"/>
              </a:lnSpc>
            </a:pPr>
            <a:r>
              <a:rPr sz="2000" b="1">
                <a:solidFill>
                  <a:srgbClr val="ED7D31"/>
                </a:solidFill>
                <a:latin typeface="Calibri"/>
              </a:rPr>
              <a:t>b.  </a:t>
            </a:r>
            <a:r>
              <a:rPr sz="2000" b="1">
                <a:solidFill>
                  <a:srgbClr val="1F3864"/>
                </a:solidFill>
                <a:latin typeface="Calibri"/>
              </a:rPr>
              <a:t>We can format number in a cell.</a:t>
            </a:r>
          </a:p>
        </p:txBody>
      </p:sp>
      <p:sp>
        <p:nvSpPr>
          <p:cNvPr id="12" name="Rounded Rectangle 11"/>
          <p:cNvSpPr/>
          <p:nvPr/>
        </p:nvSpPr>
        <p:spPr>
          <a:xfrm>
            <a:off x="868680" y="3621024"/>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621024"/>
            <a:ext cx="10408615" cy="457200"/>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T (True)</a:t>
            </a:r>
          </a:p>
        </p:txBody>
      </p:sp>
      <p:sp>
        <p:nvSpPr>
          <p:cNvPr id="14" name="Rounded Rectangle 13"/>
          <p:cNvSpPr/>
          <p:nvPr/>
        </p:nvSpPr>
        <p:spPr>
          <a:xfrm>
            <a:off x="548640" y="4352544"/>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352544"/>
            <a:ext cx="10820095" cy="411480"/>
          </a:xfrm>
          <a:prstGeom prst="rect">
            <a:avLst/>
          </a:prstGeom>
          <a:noFill/>
        </p:spPr>
        <p:txBody>
          <a:bodyPr wrap="square" anchor="ctr" lIns="76200" rIns="76200" tIns="50800" bIns="50800">
            <a:spAutoFit/>
          </a:bodyPr>
          <a:lstStyle/>
          <a:p>
            <a:pPr>
              <a:lnSpc>
                <a:spcPct val="100000"/>
              </a:lnSpc>
            </a:pPr>
            <a:r>
              <a:rPr sz="2000" b="1">
                <a:solidFill>
                  <a:srgbClr val="ED7D31"/>
                </a:solidFill>
                <a:latin typeface="Calibri"/>
              </a:rPr>
              <a:t>c.  </a:t>
            </a:r>
            <a:r>
              <a:rPr sz="2000" b="1">
                <a:solidFill>
                  <a:srgbClr val="1F3864"/>
                </a:solidFill>
                <a:latin typeface="Calibri"/>
              </a:rPr>
              <a:t>We cannot merge two or more cells.</a:t>
            </a:r>
          </a:p>
        </p:txBody>
      </p:sp>
      <p:sp>
        <p:nvSpPr>
          <p:cNvPr id="16" name="Rounded Rectangle 15"/>
          <p:cNvSpPr/>
          <p:nvPr/>
        </p:nvSpPr>
        <p:spPr>
          <a:xfrm>
            <a:off x="868680" y="4837176"/>
            <a:ext cx="10774375" cy="457200"/>
          </a:xfrm>
          <a:prstGeom prst="roundRect">
            <a:avLst>
              <a:gd name="adj" fmla="val 18000"/>
            </a:avLst>
          </a:prstGeom>
          <a:solidFill>
            <a:srgbClr val="FDEAEA"/>
          </a:solidFill>
          <a:ln w="22225">
            <a:solidFill>
              <a:srgbClr val="E57373"/>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837176"/>
            <a:ext cx="10408615" cy="457200"/>
          </a:xfrm>
          <a:prstGeom prst="rect">
            <a:avLst/>
          </a:prstGeom>
          <a:noFill/>
        </p:spPr>
        <p:txBody>
          <a:bodyPr wrap="square" anchor="ctr" lIns="76200" rIns="76200" tIns="50800" bIns="50800">
            <a:spAutoFit/>
          </a:bodyPr>
          <a:lstStyle/>
          <a:p>
            <a:pPr>
              <a:lnSpc>
                <a:spcPct val="102000"/>
              </a:lnSpc>
            </a:pPr>
            <a:r>
              <a:rPr sz="1900" b="1">
                <a:solidFill>
                  <a:srgbClr val="D32F2F"/>
                </a:solidFill>
                <a:latin typeface="Calibri"/>
              </a:rPr>
              <a:t>❌ Answer: </a:t>
            </a:r>
            <a:r>
              <a:rPr sz="1900" b="1">
                <a:solidFill>
                  <a:srgbClr val="D32F2F"/>
                </a:solidFill>
                <a:latin typeface="Calibri"/>
              </a:rPr>
              <a:t>F (False) (We can merge cells using the 'Merge &amp; Center' command).</a:t>
            </a:r>
          </a:p>
        </p:txBody>
      </p:sp>
      <p:sp>
        <p:nvSpPr>
          <p:cNvPr id="18" name="Rectangle 17"/>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20" name="TextBox 19"/>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6"/>
                                        </p:tgtEl>
                                      </p:cBhvr>
                                    </p:animEffect>
                                    <p:set>
                                      <p:cBhvr>
                                        <p:cTn id="7" dur="1" fill="hold">
                                          <p:stCondLst>
                                            <p:cond delay="0"/>
                                          </p:stCondLst>
                                        </p:cTn>
                                        <p:tgtEl>
                                          <p:spTgt spid="6"/>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8"/>
                                        </p:tgtEl>
                                      </p:cBhvr>
                                    </p:animEffec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animEffect transition="in" filter="fade">
                                      <p:cBhvr>
                                        <p:cTn id="16" dur="500"/>
                                        <p:tgtEl>
                                          <p:spTgt spid="10"/>
                                        </p:tgtEl>
                                      </p:cBhvr>
                                    </p:animEffec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animEffect transition="in" filter="fade">
                                      <p:cBhvr>
                                        <p:cTn id="21" dur="500"/>
                                        <p:tgtEl>
                                          <p:spTgt spid="12"/>
                                        </p:tgtEl>
                                      </p:cBhvr>
                                    </p:animEffec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animEffect transition="in" filter="fade">
                                      <p:cBhvr>
                                        <p:cTn id="26" dur="500"/>
                                        <p:tgtEl>
                                          <p:spTgt spid="14"/>
                                        </p:tgtEl>
                                      </p:cBhvr>
                                    </p:animEffect>
                                    <p:set>
                                      <p:cBhvr>
                                        <p:cTn id="27" dur="1" fill="hold">
                                          <p:stCondLst>
                                            <p:cond delay="0"/>
                                          </p:stCondLst>
                                        </p:cTn>
                                        <p:tgtEl>
                                          <p:spTgt spid="1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animEffect transition="in" filter="fade">
                                      <p:cBhvr>
                                        <p:cTn id="31" dur="500"/>
                                        <p:tgtEl>
                                          <p:spTgt spid="16"/>
                                        </p:tgtEl>
                                      </p:cBhvr>
                                    </p:animEffec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5B6"/>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Rapid Fire — True or False</a:t>
            </a:r>
          </a:p>
          <a:p>
            <a:pPr algn="l">
              <a:lnSpc>
                <a:spcPct val="105000"/>
              </a:lnSpc>
              <a:spcBef>
                <a:spcPts val="200"/>
              </a:spcBef>
              <a:spcAft>
                <a:spcPts val="0"/>
              </a:spcAft>
            </a:pPr>
            <a:r>
              <a:rPr sz="1500" b="0" i="1">
                <a:solidFill>
                  <a:srgbClr val="E6EFF7"/>
                </a:solidFill>
                <a:latin typeface="Calibri"/>
              </a:rPr>
              <a:t>2. Write 'T' for true and 'F' for false • Page 42</a:t>
            </a:r>
          </a:p>
        </p:txBody>
      </p:sp>
      <p:sp>
        <p:nvSpPr>
          <p:cNvPr id="5" name="TextBox 4"/>
          <p:cNvSpPr txBox="1"/>
          <p:nvPr/>
        </p:nvSpPr>
        <p:spPr>
          <a:xfrm>
            <a:off x="548640" y="1463040"/>
            <a:ext cx="11094415" cy="365760"/>
          </a:xfrm>
          <a:prstGeom prst="rect">
            <a:avLst/>
          </a:prstGeom>
          <a:noFill/>
        </p:spPr>
        <p:txBody>
          <a:bodyPr wrap="square" anchor="t" lIns="76200" rIns="76200" tIns="50800" bIns="50800">
            <a:spAutoFit/>
          </a:bodyPr>
          <a:lstStyle/>
          <a:p>
            <a:pPr algn="l">
              <a:lnSpc>
                <a:spcPct val="105000"/>
              </a:lnSpc>
              <a:spcBef>
                <a:spcPts val="0"/>
              </a:spcBef>
              <a:spcAft>
                <a:spcPts val="0"/>
              </a:spcAft>
            </a:pPr>
            <a:r>
              <a:rPr sz="1700" b="1" i="1">
                <a:solidFill>
                  <a:srgbClr val="707070"/>
                </a:solidFill>
                <a:latin typeface="Calibri"/>
              </a:rPr>
              <a:t>Write 'T' for true and 'F' for false:</a:t>
            </a:r>
          </a:p>
        </p:txBody>
      </p:sp>
      <p:sp>
        <p:nvSpPr>
          <p:cNvPr id="6" name="Rounded Rectangle 5"/>
          <p:cNvSpPr/>
          <p:nvPr/>
        </p:nvSpPr>
        <p:spPr>
          <a:xfrm>
            <a:off x="548640" y="192024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20240"/>
            <a:ext cx="10820095" cy="411480"/>
          </a:xfrm>
          <a:prstGeom prst="rect">
            <a:avLst/>
          </a:prstGeom>
          <a:noFill/>
        </p:spPr>
        <p:txBody>
          <a:bodyPr wrap="square" anchor="ctr" lIns="76200" rIns="76200" tIns="50800" bIns="50800">
            <a:spAutoFit/>
          </a:bodyPr>
          <a:lstStyle/>
          <a:p>
            <a:pPr>
              <a:lnSpc>
                <a:spcPct val="100000"/>
              </a:lnSpc>
            </a:pPr>
            <a:r>
              <a:rPr sz="2000" b="1">
                <a:solidFill>
                  <a:srgbClr val="ED7D31"/>
                </a:solidFill>
                <a:latin typeface="Calibri"/>
              </a:rPr>
              <a:t>d.  </a:t>
            </a:r>
            <a:r>
              <a:rPr sz="2000" b="1">
                <a:solidFill>
                  <a:srgbClr val="1F3864"/>
                </a:solidFill>
                <a:latin typeface="Calibri"/>
              </a:rPr>
              <a:t>Auto Fill allows user to automatically fill a number or text series.</a:t>
            </a:r>
          </a:p>
        </p:txBody>
      </p:sp>
      <p:sp>
        <p:nvSpPr>
          <p:cNvPr id="8" name="Rounded Rectangle 7"/>
          <p:cNvSpPr/>
          <p:nvPr/>
        </p:nvSpPr>
        <p:spPr>
          <a:xfrm>
            <a:off x="868680" y="2404872"/>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04872"/>
            <a:ext cx="10408615" cy="457200"/>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T (True)</a:t>
            </a:r>
          </a:p>
        </p:txBody>
      </p:sp>
      <p:sp>
        <p:nvSpPr>
          <p:cNvPr id="10" name="Rounded Rectangle 9"/>
          <p:cNvSpPr/>
          <p:nvPr/>
        </p:nvSpPr>
        <p:spPr>
          <a:xfrm>
            <a:off x="548640" y="3136392"/>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136392"/>
            <a:ext cx="10820095" cy="411480"/>
          </a:xfrm>
          <a:prstGeom prst="rect">
            <a:avLst/>
          </a:prstGeom>
          <a:noFill/>
        </p:spPr>
        <p:txBody>
          <a:bodyPr wrap="square" anchor="ctr" lIns="76200" rIns="76200" tIns="50800" bIns="50800">
            <a:spAutoFit/>
          </a:bodyPr>
          <a:lstStyle/>
          <a:p>
            <a:pPr>
              <a:lnSpc>
                <a:spcPct val="100000"/>
              </a:lnSpc>
            </a:pPr>
            <a:r>
              <a:rPr sz="2000" b="1">
                <a:solidFill>
                  <a:srgbClr val="ED7D31"/>
                </a:solidFill>
                <a:latin typeface="Calibri"/>
              </a:rPr>
              <a:t>e.  </a:t>
            </a:r>
            <a:r>
              <a:rPr sz="2000" b="1">
                <a:solidFill>
                  <a:srgbClr val="1F3864"/>
                </a:solidFill>
                <a:latin typeface="Calibri"/>
              </a:rPr>
              <a:t>A cell or a range of cells that you want to use in your calculation is called formula.</a:t>
            </a:r>
          </a:p>
        </p:txBody>
      </p:sp>
      <p:sp>
        <p:nvSpPr>
          <p:cNvPr id="12" name="Rounded Rectangle 11"/>
          <p:cNvSpPr/>
          <p:nvPr/>
        </p:nvSpPr>
        <p:spPr>
          <a:xfrm>
            <a:off x="868680" y="3621024"/>
            <a:ext cx="10774375" cy="457200"/>
          </a:xfrm>
          <a:prstGeom prst="roundRect">
            <a:avLst>
              <a:gd name="adj" fmla="val 18000"/>
            </a:avLst>
          </a:prstGeom>
          <a:solidFill>
            <a:srgbClr val="FDEAEA"/>
          </a:solidFill>
          <a:ln w="22225">
            <a:solidFill>
              <a:srgbClr val="E57373"/>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621024"/>
            <a:ext cx="10408615" cy="457200"/>
          </a:xfrm>
          <a:prstGeom prst="rect">
            <a:avLst/>
          </a:prstGeom>
          <a:noFill/>
        </p:spPr>
        <p:txBody>
          <a:bodyPr wrap="square" anchor="ctr" lIns="76200" rIns="76200" tIns="50800" bIns="50800">
            <a:spAutoFit/>
          </a:bodyPr>
          <a:lstStyle/>
          <a:p>
            <a:pPr>
              <a:lnSpc>
                <a:spcPct val="102000"/>
              </a:lnSpc>
            </a:pPr>
            <a:r>
              <a:rPr sz="1900" b="1">
                <a:solidFill>
                  <a:srgbClr val="D32F2F"/>
                </a:solidFill>
                <a:latin typeface="Calibri"/>
              </a:rPr>
              <a:t>❌ Answer: </a:t>
            </a:r>
            <a:r>
              <a:rPr sz="1900" b="1">
                <a:solidFill>
                  <a:srgbClr val="D32F2F"/>
                </a:solidFill>
                <a:latin typeface="Calibri"/>
              </a:rPr>
              <a:t>F (False) (It is actually called a Reference).</a:t>
            </a:r>
          </a:p>
        </p:txBody>
      </p:sp>
      <p:sp>
        <p:nvSpPr>
          <p:cNvPr id="14" name="Rectangle 13"/>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6" name="TextBox 15"/>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6"/>
                                        </p:tgtEl>
                                      </p:cBhvr>
                                    </p:animEffect>
                                    <p:set>
                                      <p:cBhvr>
                                        <p:cTn id="7" dur="1" fill="hold">
                                          <p:stCondLst>
                                            <p:cond delay="0"/>
                                          </p:stCondLst>
                                        </p:cTn>
                                        <p:tgtEl>
                                          <p:spTgt spid="6"/>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8"/>
                                        </p:tgtEl>
                                      </p:cBhvr>
                                    </p:animEffec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animEffect transition="in" filter="fade">
                                      <p:cBhvr>
                                        <p:cTn id="16" dur="500"/>
                                        <p:tgtEl>
                                          <p:spTgt spid="10"/>
                                        </p:tgtEl>
                                      </p:cBhvr>
                                    </p:animEffec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animEffect transition="in" filter="fade">
                                      <p:cBhvr>
                                        <p:cTn id="21" dur="500"/>
                                        <p:tgtEl>
                                          <p:spTgt spid="12"/>
                                        </p:tgtEl>
                                      </p:cBhvr>
                                    </p:animEffec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E7D32"/>
              </a:gs>
              <a:gs pos="100000">
                <a:srgbClr val="3EA855"/>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4" name="TextBox 3"/>
          <p:cNvSpPr txBox="1"/>
          <p:nvPr/>
        </p:nvSpPr>
        <p:spPr>
          <a:xfrm>
            <a:off x="10698480" y="82296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400" b="0" i="0">
                <a:solidFill>
                  <a:srgbClr val="FFFFFF"/>
                </a:solidFill>
                <a:latin typeface="Calibri"/>
              </a:rPr>
              <a:t>📋</a:t>
            </a:r>
          </a:p>
        </p:txBody>
      </p:sp>
      <p:sp>
        <p:nvSpPr>
          <p:cNvPr id="5" name="TextBox 4"/>
          <p:cNvSpPr txBox="1"/>
          <p:nvPr/>
        </p:nvSpPr>
        <p:spPr>
          <a:xfrm>
            <a:off x="1280160" y="521208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6" name="TextBox 5"/>
          <p:cNvSpPr txBox="1"/>
          <p:nvPr/>
        </p:nvSpPr>
        <p:spPr>
          <a:xfrm>
            <a:off x="10241280" y="5120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7" name="TextBox 6"/>
          <p:cNvSpPr txBox="1"/>
          <p:nvPr/>
        </p:nvSpPr>
        <p:spPr>
          <a:xfrm>
            <a:off x="5669280" y="457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FFFFFF"/>
                </a:solidFill>
                <a:latin typeface="Calibri"/>
              </a:rPr>
              <a:t>📊</a:t>
            </a:r>
          </a:p>
        </p:txBody>
      </p:sp>
      <p:sp>
        <p:nvSpPr>
          <p:cNvPr id="8" name="TextBox 7"/>
          <p:cNvSpPr txBox="1"/>
          <p:nvPr/>
        </p:nvSpPr>
        <p:spPr>
          <a:xfrm>
            <a:off x="9144000" y="292608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FFFFFF"/>
                </a:solidFill>
                <a:latin typeface="Calibri"/>
              </a:rPr>
              <a:t>📝</a:t>
            </a:r>
          </a:p>
        </p:txBody>
      </p:sp>
      <p:sp>
        <p:nvSpPr>
          <p:cNvPr id="9" name="TextBox 8"/>
          <p:cNvSpPr txBox="1"/>
          <p:nvPr/>
        </p:nvSpPr>
        <p:spPr>
          <a:xfrm>
            <a:off x="2377440" y="2743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000" b="0" i="0">
                <a:solidFill>
                  <a:srgbClr val="FFFFFF"/>
                </a:solidFill>
                <a:latin typeface="Calibri"/>
              </a:rPr>
              <a:t>📋</a:t>
            </a:r>
          </a:p>
        </p:txBody>
      </p:sp>
      <p:sp>
        <p:nvSpPr>
          <p:cNvPr id="10" name="Rounded Rectangle 9"/>
          <p:cNvSpPr/>
          <p:nvPr/>
        </p:nvSpPr>
        <p:spPr>
          <a:xfrm>
            <a:off x="2194560" y="1965960"/>
            <a:ext cx="7772400" cy="2926080"/>
          </a:xfrm>
          <a:prstGeom prst="roundRect">
            <a:avLst>
              <a:gd name="adj" fmla="val 10000"/>
            </a:avLst>
          </a:prstGeom>
          <a:solidFill>
            <a:srgbClr val="FFFFFF"/>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1965960"/>
            <a:ext cx="7223760" cy="2926080"/>
          </a:xfrm>
          <a:prstGeom prst="rect">
            <a:avLst/>
          </a:prstGeom>
          <a:noFill/>
        </p:spPr>
        <p:txBody>
          <a:bodyPr wrap="square" anchor="ctr" lIns="76200" rIns="76200" tIns="50800" bIns="50800">
            <a:spAutoFit/>
          </a:bodyPr>
          <a:lstStyle/>
          <a:p>
            <a:pPr algn="ctr">
              <a:lnSpc>
                <a:spcPct val="105000"/>
              </a:lnSpc>
              <a:spcBef>
                <a:spcPts val="0"/>
              </a:spcBef>
              <a:spcAft>
                <a:spcPts val="200"/>
              </a:spcAft>
            </a:pPr>
            <a:r>
              <a:rPr sz="6000" b="0" i="0">
                <a:solidFill>
                  <a:srgbClr val="2E7D32"/>
                </a:solidFill>
                <a:latin typeface="Calibri"/>
              </a:rPr>
              <a:t>📝</a:t>
            </a:r>
          </a:p>
          <a:p>
            <a:pPr algn="ctr">
              <a:lnSpc>
                <a:spcPct val="105000"/>
              </a:lnSpc>
              <a:spcBef>
                <a:spcPts val="0"/>
              </a:spcBef>
              <a:spcAft>
                <a:spcPts val="600"/>
              </a:spcAft>
            </a:pPr>
            <a:r>
              <a:rPr sz="4400" b="1" i="0">
                <a:solidFill>
                  <a:srgbClr val="1F3864"/>
                </a:solidFill>
                <a:latin typeface="Calibri Light"/>
              </a:rPr>
              <a:t>Evaluation Time</a:t>
            </a:r>
          </a:p>
          <a:p>
            <a:pPr algn="ctr">
              <a:lnSpc>
                <a:spcPct val="105000"/>
              </a:lnSpc>
              <a:spcBef>
                <a:spcPts val="0"/>
              </a:spcBef>
              <a:spcAft>
                <a:spcPts val="400"/>
              </a:spcAft>
            </a:pPr>
            <a:r>
              <a:rPr sz="2000" b="1" i="1">
                <a:solidFill>
                  <a:srgbClr val="3EA855"/>
                </a:solidFill>
                <a:latin typeface="Calibri"/>
              </a:rPr>
              <a:t>Pages 42 and 43</a:t>
            </a:r>
          </a:p>
        </p:txBody>
      </p:sp>
      <p:sp>
        <p:nvSpPr>
          <p:cNvPr id="12" name="Rectangle 11"/>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4" name="TextBox 13"/>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Evaluation Time — Fill in the blanks</a:t>
            </a:r>
          </a:p>
          <a:p>
            <a:pPr algn="l">
              <a:lnSpc>
                <a:spcPct val="105000"/>
              </a:lnSpc>
              <a:spcBef>
                <a:spcPts val="200"/>
              </a:spcBef>
              <a:spcAft>
                <a:spcPts val="0"/>
              </a:spcAft>
            </a:pPr>
            <a:r>
              <a:rPr sz="1500" b="0" i="1">
                <a:solidFill>
                  <a:srgbClr val="E6EFF7"/>
                </a:solidFill>
                <a:latin typeface="Calibri"/>
              </a:rPr>
              <a:t>1. Fill in the blanks using the hints given below • Page 42</a:t>
            </a:r>
          </a:p>
        </p:txBody>
      </p:sp>
      <p:sp>
        <p:nvSpPr>
          <p:cNvPr id="5" name="Rounded Rectangle 4"/>
          <p:cNvSpPr/>
          <p:nvPr/>
        </p:nvSpPr>
        <p:spPr>
          <a:xfrm>
            <a:off x="548640" y="1463040"/>
            <a:ext cx="11094415" cy="566928"/>
          </a:xfrm>
          <a:prstGeom prst="roundRect">
            <a:avLst>
              <a:gd name="adj" fmla="val 20000"/>
            </a:avLst>
          </a:prstGeom>
          <a:solidFill>
            <a:srgbClr val="FDEFE3"/>
          </a:solidFill>
          <a:ln w="19050">
            <a:solidFill>
              <a:srgbClr val="ED7D31"/>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10728655" cy="566928"/>
          </a:xfrm>
          <a:prstGeom prst="rect">
            <a:avLst/>
          </a:prstGeom>
          <a:noFill/>
        </p:spPr>
        <p:txBody>
          <a:bodyPr wrap="square" anchor="ctr" lIns="76200" rIns="76200" tIns="50800" bIns="50800">
            <a:spAutoFit/>
          </a:bodyPr>
          <a:lstStyle/>
          <a:p>
            <a:r>
              <a:rPr sz="1700" b="1">
                <a:solidFill>
                  <a:srgbClr val="ED7D31"/>
                </a:solidFill>
                <a:latin typeface="Calibri"/>
              </a:rPr>
              <a:t>💡 Hints:  </a:t>
            </a:r>
            <a:r>
              <a:rPr sz="1700" b="1">
                <a:solidFill>
                  <a:srgbClr val="1F3864"/>
                </a:solidFill>
                <a:latin typeface="Calibri"/>
              </a:rPr>
              <a:t>Cell Styles, Select All, Insert, Operators, Merge &amp; Center</a:t>
            </a:r>
          </a:p>
        </p:txBody>
      </p:sp>
      <p:sp>
        <p:nvSpPr>
          <p:cNvPr id="7" name="Rounded Rectangle 6"/>
          <p:cNvSpPr/>
          <p:nvPr/>
        </p:nvSpPr>
        <p:spPr>
          <a:xfrm>
            <a:off x="548640" y="219456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94560"/>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a.  </a:t>
            </a:r>
            <a:r>
              <a:rPr sz="1900" b="1">
                <a:solidFill>
                  <a:srgbClr val="1F3864"/>
                </a:solidFill>
                <a:latin typeface="Calibri"/>
              </a:rPr>
              <a:t>The ____________ command on the Home tab is used to add a column into a worksheet.</a:t>
            </a:r>
          </a:p>
        </p:txBody>
      </p:sp>
      <p:sp>
        <p:nvSpPr>
          <p:cNvPr id="9" name="Rounded Rectangle 8"/>
          <p:cNvSpPr/>
          <p:nvPr/>
        </p:nvSpPr>
        <p:spPr>
          <a:xfrm>
            <a:off x="868680" y="2679192"/>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679192"/>
            <a:ext cx="10408615" cy="457200"/>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Insert</a:t>
            </a:r>
          </a:p>
        </p:txBody>
      </p:sp>
      <p:sp>
        <p:nvSpPr>
          <p:cNvPr id="11" name="Rounded Rectangle 10"/>
          <p:cNvSpPr/>
          <p:nvPr/>
        </p:nvSpPr>
        <p:spPr>
          <a:xfrm>
            <a:off x="548640" y="3392424"/>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392424"/>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b.  </a:t>
            </a:r>
            <a:r>
              <a:rPr sz="1900" b="1">
                <a:solidFill>
                  <a:srgbClr val="1F3864"/>
                </a:solidFill>
                <a:latin typeface="Calibri"/>
              </a:rPr>
              <a:t>We can apply a style on the cells by using the ____________ command on the Styles group under the Home tab.</a:t>
            </a:r>
          </a:p>
        </p:txBody>
      </p:sp>
      <p:sp>
        <p:nvSpPr>
          <p:cNvPr id="13" name="Rounded Rectangle 12"/>
          <p:cNvSpPr/>
          <p:nvPr/>
        </p:nvSpPr>
        <p:spPr>
          <a:xfrm>
            <a:off x="868680" y="3877056"/>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877056"/>
            <a:ext cx="10408615" cy="457200"/>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Cell Styles</a:t>
            </a:r>
          </a:p>
        </p:txBody>
      </p:sp>
      <p:sp>
        <p:nvSpPr>
          <p:cNvPr id="15" name="Rounded Rectangle 14"/>
          <p:cNvSpPr/>
          <p:nvPr/>
        </p:nvSpPr>
        <p:spPr>
          <a:xfrm>
            <a:off x="548640" y="4590288"/>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90288"/>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c.  </a:t>
            </a:r>
            <a:r>
              <a:rPr sz="1900" b="1">
                <a:solidFill>
                  <a:srgbClr val="1F3864"/>
                </a:solidFill>
                <a:latin typeface="Calibri"/>
              </a:rPr>
              <a:t>We can select entire worksheet by clicking on the ____________ button.</a:t>
            </a:r>
          </a:p>
        </p:txBody>
      </p:sp>
      <p:sp>
        <p:nvSpPr>
          <p:cNvPr id="17" name="Rounded Rectangle 16"/>
          <p:cNvSpPr/>
          <p:nvPr/>
        </p:nvSpPr>
        <p:spPr>
          <a:xfrm>
            <a:off x="868680" y="5074920"/>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074920"/>
            <a:ext cx="10408615" cy="457200"/>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Select All</a:t>
            </a:r>
          </a:p>
        </p:txBody>
      </p:sp>
      <p:sp>
        <p:nvSpPr>
          <p:cNvPr id="19" name="Rectangle 18"/>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21" name="TextBox 20"/>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animEffect transition="in" filter="fade">
                                      <p:cBhvr>
                                        <p:cTn id="16" dur="500"/>
                                        <p:tgtEl>
                                          <p:spTgt spid="9"/>
                                        </p:tgtEl>
                                      </p:cBhvr>
                                    </p:animEffec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animEffect transition="in" filter="fade">
                                      <p:cBhvr>
                                        <p:cTn id="21" dur="500"/>
                                        <p:tgtEl>
                                          <p:spTgt spid="11"/>
                                        </p:tgtEl>
                                      </p:cBhvr>
                                    </p:animEffec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animEffect transition="in" filter="fade">
                                      <p:cBhvr>
                                        <p:cTn id="26" dur="500"/>
                                        <p:tgtEl>
                                          <p:spTgt spid="13"/>
                                        </p:tgtEl>
                                      </p:cBhvr>
                                    </p:animEffec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animEffect transition="in" filter="fade">
                                      <p:cBhvr>
                                        <p:cTn id="31" dur="500"/>
                                        <p:tgtEl>
                                          <p:spTgt spid="15"/>
                                        </p:tgtEl>
                                      </p:cBhvr>
                                    </p:animEffec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animEffect transition="in" filter="fade">
                                      <p:cBhvr>
                                        <p:cTn id="36" dur="500"/>
                                        <p:tgtEl>
                                          <p:spTgt spid="17"/>
                                        </p:tgtEl>
                                      </p:cBhvr>
                                    </p:animEffect>
                                    <p:set>
                                      <p:cBhvr>
                                        <p:cTn id="3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Evaluation Time — Fill in the blanks</a:t>
            </a:r>
          </a:p>
          <a:p>
            <a:pPr algn="l">
              <a:lnSpc>
                <a:spcPct val="105000"/>
              </a:lnSpc>
              <a:spcBef>
                <a:spcPts val="200"/>
              </a:spcBef>
              <a:spcAft>
                <a:spcPts val="0"/>
              </a:spcAft>
            </a:pPr>
            <a:r>
              <a:rPr sz="1500" b="0" i="1">
                <a:solidFill>
                  <a:srgbClr val="E6EFF7"/>
                </a:solidFill>
                <a:latin typeface="Calibri"/>
              </a:rPr>
              <a:t>1. Fill in the blanks using the hints given below • Page 42</a:t>
            </a:r>
          </a:p>
        </p:txBody>
      </p:sp>
      <p:sp>
        <p:nvSpPr>
          <p:cNvPr id="5" name="Rounded Rectangle 4"/>
          <p:cNvSpPr/>
          <p:nvPr/>
        </p:nvSpPr>
        <p:spPr>
          <a:xfrm>
            <a:off x="548640" y="146304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40"/>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d.  </a:t>
            </a:r>
            <a:r>
              <a:rPr sz="1900" b="1">
                <a:solidFill>
                  <a:srgbClr val="1F3864"/>
                </a:solidFill>
                <a:latin typeface="Calibri"/>
              </a:rPr>
              <a:t>We can use ____________ option in the Alignment group to combine two or more selected cells into a single cell.</a:t>
            </a:r>
          </a:p>
        </p:txBody>
      </p:sp>
      <p:sp>
        <p:nvSpPr>
          <p:cNvPr id="7" name="Rounded Rectangle 6"/>
          <p:cNvSpPr/>
          <p:nvPr/>
        </p:nvSpPr>
        <p:spPr>
          <a:xfrm>
            <a:off x="868680" y="1947672"/>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47672"/>
            <a:ext cx="10408615" cy="457200"/>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Merge &amp; Center</a:t>
            </a:r>
          </a:p>
        </p:txBody>
      </p:sp>
      <p:sp>
        <p:nvSpPr>
          <p:cNvPr id="9" name="Rounded Rectangle 8"/>
          <p:cNvSpPr/>
          <p:nvPr/>
        </p:nvSpPr>
        <p:spPr>
          <a:xfrm>
            <a:off x="548640" y="2660904"/>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60904"/>
            <a:ext cx="10820095" cy="411480"/>
          </a:xfrm>
          <a:prstGeom prst="rect">
            <a:avLst/>
          </a:prstGeom>
          <a:noFill/>
        </p:spPr>
        <p:txBody>
          <a:bodyPr wrap="square" anchor="ctr" lIns="76200" rIns="76200" tIns="50800" bIns="50800">
            <a:spAutoFit/>
          </a:bodyPr>
          <a:lstStyle/>
          <a:p>
            <a:pPr>
              <a:lnSpc>
                <a:spcPct val="100000"/>
              </a:lnSpc>
            </a:pPr>
            <a:r>
              <a:rPr sz="1900" b="1">
                <a:solidFill>
                  <a:srgbClr val="ED7D31"/>
                </a:solidFill>
                <a:latin typeface="Calibri"/>
              </a:rPr>
              <a:t>e.  </a:t>
            </a:r>
            <a:r>
              <a:rPr sz="1900" b="1">
                <a:solidFill>
                  <a:srgbClr val="1F3864"/>
                </a:solidFill>
                <a:latin typeface="Calibri"/>
              </a:rPr>
              <a:t>Symbols that specify the calculations to be performed are called ____________.</a:t>
            </a:r>
          </a:p>
        </p:txBody>
      </p:sp>
      <p:sp>
        <p:nvSpPr>
          <p:cNvPr id="11" name="Rounded Rectangle 10"/>
          <p:cNvSpPr/>
          <p:nvPr/>
        </p:nvSpPr>
        <p:spPr>
          <a:xfrm>
            <a:off x="868680" y="3145536"/>
            <a:ext cx="1077437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145536"/>
            <a:ext cx="10408615" cy="457200"/>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Operators</a:t>
            </a:r>
          </a:p>
        </p:txBody>
      </p:sp>
      <p:sp>
        <p:nvSpPr>
          <p:cNvPr id="13" name="Rectangle 12"/>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5" name="TextBox 14"/>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animEffect transition="in" filter="fade">
                                      <p:cBhvr>
                                        <p:cTn id="16" dur="500"/>
                                        <p:tgtEl>
                                          <p:spTgt spid="9"/>
                                        </p:tgtEl>
                                      </p:cBhvr>
                                    </p:animEffec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animEffect transition="in" filter="fade">
                                      <p:cBhvr>
                                        <p:cTn id="21" dur="500"/>
                                        <p:tgtEl>
                                          <p:spTgt spid="11"/>
                                        </p:tgtEl>
                                      </p:cBhvr>
                                    </p:animEffec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Evaluation Time — Short Answer</a:t>
            </a:r>
          </a:p>
          <a:p>
            <a:pPr algn="l">
              <a:lnSpc>
                <a:spcPct val="105000"/>
              </a:lnSpc>
              <a:spcBef>
                <a:spcPts val="200"/>
              </a:spcBef>
              <a:spcAft>
                <a:spcPts val="0"/>
              </a:spcAft>
            </a:pPr>
            <a:r>
              <a:rPr sz="1500" b="0" i="1">
                <a:solidFill>
                  <a:srgbClr val="E6EFF7"/>
                </a:solidFill>
                <a:latin typeface="Calibri"/>
              </a:rPr>
              <a:t>2. Short Answer Type Questions • Page 42</a:t>
            </a:r>
          </a:p>
        </p:txBody>
      </p:sp>
      <p:sp>
        <p:nvSpPr>
          <p:cNvPr id="5" name="Rounded Rectangle 4"/>
          <p:cNvSpPr/>
          <p:nvPr/>
        </p:nvSpPr>
        <p:spPr>
          <a:xfrm>
            <a:off x="548640" y="155448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10820095" cy="411480"/>
          </a:xfrm>
          <a:prstGeom prst="rect">
            <a:avLst/>
          </a:prstGeom>
          <a:noFill/>
        </p:spPr>
        <p:txBody>
          <a:bodyPr wrap="square" anchor="ctr" lIns="76200" rIns="76200" tIns="50800" bIns="50800">
            <a:spAutoFit/>
          </a:bodyPr>
          <a:lstStyle/>
          <a:p>
            <a:pPr>
              <a:lnSpc>
                <a:spcPct val="100000"/>
              </a:lnSpc>
            </a:pPr>
            <a:r>
              <a:rPr sz="2200" b="1">
                <a:solidFill>
                  <a:srgbClr val="ED7D31"/>
                </a:solidFill>
                <a:latin typeface="Calibri"/>
              </a:rPr>
              <a:t>a.  </a:t>
            </a:r>
            <a:r>
              <a:rPr sz="2200" b="1">
                <a:solidFill>
                  <a:srgbClr val="1F3864"/>
                </a:solidFill>
                <a:latin typeface="Calibri"/>
              </a:rPr>
              <a:t>Can we unmerge the merged cells? If yes, write the name of the command used to do so.</a:t>
            </a:r>
          </a:p>
        </p:txBody>
      </p:sp>
      <p:sp>
        <p:nvSpPr>
          <p:cNvPr id="7" name="Rounded Rectangle 6"/>
          <p:cNvSpPr/>
          <p:nvPr/>
        </p:nvSpPr>
        <p:spPr>
          <a:xfrm>
            <a:off x="777240" y="2130552"/>
            <a:ext cx="10865815" cy="749808"/>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30552"/>
            <a:ext cx="10500055" cy="749808"/>
          </a:xfrm>
          <a:prstGeom prst="rect">
            <a:avLst/>
          </a:prstGeom>
          <a:noFill/>
        </p:spPr>
        <p:txBody>
          <a:bodyPr wrap="square" anchor="ctr" lIns="76200" rIns="76200" tIns="50800" bIns="50800">
            <a:spAutoFit/>
          </a:bodyPr>
          <a:lstStyle/>
          <a:p>
            <a:pPr>
              <a:lnSpc>
                <a:spcPct val="102000"/>
              </a:lnSpc>
            </a:pPr>
            <a:r>
              <a:rPr sz="2000" b="1">
                <a:solidFill>
                  <a:srgbClr val="2E7D32"/>
                </a:solidFill>
                <a:latin typeface="Calibri"/>
              </a:rPr>
              <a:t>✅ Answer: </a:t>
            </a:r>
            <a:r>
              <a:rPr sz="2000" b="1">
                <a:solidFill>
                  <a:srgbClr val="2E7D32"/>
                </a:solidFill>
                <a:latin typeface="Calibri"/>
              </a:rPr>
              <a:t>Yes, we can unmerge cells. The command used is Unmerge Cells (found under the Merge &amp; Center menu in the Alignment group).</a:t>
            </a:r>
          </a:p>
        </p:txBody>
      </p:sp>
      <p:sp>
        <p:nvSpPr>
          <p:cNvPr id="9" name="Rectangle 8"/>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1" name="TextBox 10"/>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Evaluation Time — Short Answer</a:t>
            </a:r>
          </a:p>
          <a:p>
            <a:pPr algn="l">
              <a:lnSpc>
                <a:spcPct val="105000"/>
              </a:lnSpc>
              <a:spcBef>
                <a:spcPts val="200"/>
              </a:spcBef>
              <a:spcAft>
                <a:spcPts val="0"/>
              </a:spcAft>
            </a:pPr>
            <a:r>
              <a:rPr sz="1500" b="0" i="1">
                <a:solidFill>
                  <a:srgbClr val="E6EFF7"/>
                </a:solidFill>
                <a:latin typeface="Calibri"/>
              </a:rPr>
              <a:t>2. Short Answer Type Questions • Page 43</a:t>
            </a:r>
          </a:p>
        </p:txBody>
      </p:sp>
      <p:sp>
        <p:nvSpPr>
          <p:cNvPr id="5" name="Rounded Rectangle 4"/>
          <p:cNvSpPr/>
          <p:nvPr/>
        </p:nvSpPr>
        <p:spPr>
          <a:xfrm>
            <a:off x="548640" y="155448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10820095" cy="411480"/>
          </a:xfrm>
          <a:prstGeom prst="rect">
            <a:avLst/>
          </a:prstGeom>
          <a:noFill/>
        </p:spPr>
        <p:txBody>
          <a:bodyPr wrap="square" anchor="ctr" lIns="76200" rIns="76200" tIns="50800" bIns="50800">
            <a:spAutoFit/>
          </a:bodyPr>
          <a:lstStyle/>
          <a:p>
            <a:pPr>
              <a:lnSpc>
                <a:spcPct val="100000"/>
              </a:lnSpc>
            </a:pPr>
            <a:r>
              <a:rPr sz="2200" b="1">
                <a:solidFill>
                  <a:srgbClr val="ED7D31"/>
                </a:solidFill>
                <a:latin typeface="Calibri"/>
              </a:rPr>
              <a:t>b.  </a:t>
            </a:r>
            <a:r>
              <a:rPr sz="2200" b="1">
                <a:solidFill>
                  <a:srgbClr val="1F3864"/>
                </a:solidFill>
                <a:latin typeface="Calibri"/>
              </a:rPr>
              <a:t>What is the use of Copy command on the Home tab?</a:t>
            </a:r>
          </a:p>
        </p:txBody>
      </p:sp>
      <p:sp>
        <p:nvSpPr>
          <p:cNvPr id="7" name="Rounded Rectangle 6"/>
          <p:cNvSpPr/>
          <p:nvPr/>
        </p:nvSpPr>
        <p:spPr>
          <a:xfrm>
            <a:off x="777240" y="2130552"/>
            <a:ext cx="10865815" cy="749808"/>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30552"/>
            <a:ext cx="10500055" cy="749808"/>
          </a:xfrm>
          <a:prstGeom prst="rect">
            <a:avLst/>
          </a:prstGeom>
          <a:noFill/>
        </p:spPr>
        <p:txBody>
          <a:bodyPr wrap="square" anchor="ctr" lIns="76200" rIns="76200" tIns="50800" bIns="50800">
            <a:spAutoFit/>
          </a:bodyPr>
          <a:lstStyle/>
          <a:p>
            <a:pPr>
              <a:lnSpc>
                <a:spcPct val="102000"/>
              </a:lnSpc>
            </a:pPr>
            <a:r>
              <a:rPr sz="2000" b="1">
                <a:solidFill>
                  <a:srgbClr val="2E7D32"/>
                </a:solidFill>
                <a:latin typeface="Calibri"/>
              </a:rPr>
              <a:t>✅ Answer: </a:t>
            </a:r>
            <a:r>
              <a:rPr sz="2000" b="1">
                <a:solidFill>
                  <a:srgbClr val="2E7D32"/>
                </a:solidFill>
                <a:latin typeface="Calibri"/>
              </a:rPr>
              <a:t>The Copy command is used to duplicate data. It copies the content of a cell to a new place while keeping the original data safe in its old place.</a:t>
            </a:r>
          </a:p>
        </p:txBody>
      </p:sp>
      <p:sp>
        <p:nvSpPr>
          <p:cNvPr id="9" name="Rectangle 8"/>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1" name="TextBox 10"/>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Evaluation Time — Short Answer</a:t>
            </a:r>
          </a:p>
          <a:p>
            <a:pPr algn="l">
              <a:lnSpc>
                <a:spcPct val="105000"/>
              </a:lnSpc>
              <a:spcBef>
                <a:spcPts val="200"/>
              </a:spcBef>
              <a:spcAft>
                <a:spcPts val="0"/>
              </a:spcAft>
            </a:pPr>
            <a:r>
              <a:rPr sz="1500" b="0" i="1">
                <a:solidFill>
                  <a:srgbClr val="E6EFF7"/>
                </a:solidFill>
                <a:latin typeface="Calibri"/>
              </a:rPr>
              <a:t>2. Short Answer Type Questions • Page 43</a:t>
            </a:r>
          </a:p>
        </p:txBody>
      </p:sp>
      <p:sp>
        <p:nvSpPr>
          <p:cNvPr id="5" name="Rounded Rectangle 4"/>
          <p:cNvSpPr/>
          <p:nvPr/>
        </p:nvSpPr>
        <p:spPr>
          <a:xfrm>
            <a:off x="548640" y="155448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10820095" cy="411480"/>
          </a:xfrm>
          <a:prstGeom prst="rect">
            <a:avLst/>
          </a:prstGeom>
          <a:noFill/>
        </p:spPr>
        <p:txBody>
          <a:bodyPr wrap="square" anchor="ctr" lIns="76200" rIns="76200" tIns="50800" bIns="50800">
            <a:spAutoFit/>
          </a:bodyPr>
          <a:lstStyle/>
          <a:p>
            <a:pPr>
              <a:lnSpc>
                <a:spcPct val="100000"/>
              </a:lnSpc>
            </a:pPr>
            <a:r>
              <a:rPr sz="2200" b="1">
                <a:solidFill>
                  <a:srgbClr val="ED7D31"/>
                </a:solidFill>
                <a:latin typeface="Calibri"/>
              </a:rPr>
              <a:t>c.  </a:t>
            </a:r>
            <a:r>
              <a:rPr sz="2200" b="1">
                <a:solidFill>
                  <a:srgbClr val="1F3864"/>
                </a:solidFill>
                <a:latin typeface="Calibri"/>
              </a:rPr>
              <a:t>Which feature of Excel allows us to display multiple lines of text inside a cell?</a:t>
            </a:r>
          </a:p>
        </p:txBody>
      </p:sp>
      <p:sp>
        <p:nvSpPr>
          <p:cNvPr id="7" name="Rounded Rectangle 6"/>
          <p:cNvSpPr/>
          <p:nvPr/>
        </p:nvSpPr>
        <p:spPr>
          <a:xfrm>
            <a:off x="777240" y="2130552"/>
            <a:ext cx="10865815" cy="457200"/>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30552"/>
            <a:ext cx="10500055" cy="457200"/>
          </a:xfrm>
          <a:prstGeom prst="rect">
            <a:avLst/>
          </a:prstGeom>
          <a:noFill/>
        </p:spPr>
        <p:txBody>
          <a:bodyPr wrap="square" anchor="ctr" lIns="76200" rIns="76200" tIns="50800" bIns="50800">
            <a:spAutoFit/>
          </a:bodyPr>
          <a:lstStyle/>
          <a:p>
            <a:pPr>
              <a:lnSpc>
                <a:spcPct val="102000"/>
              </a:lnSpc>
            </a:pPr>
            <a:r>
              <a:rPr sz="2200" b="1">
                <a:solidFill>
                  <a:srgbClr val="2E7D32"/>
                </a:solidFill>
                <a:latin typeface="Calibri"/>
              </a:rPr>
              <a:t>✅ Answer: </a:t>
            </a:r>
            <a:r>
              <a:rPr sz="2200" b="1">
                <a:solidFill>
                  <a:srgbClr val="2E7D32"/>
                </a:solidFill>
                <a:latin typeface="Calibri"/>
              </a:rPr>
              <a:t>The Wrap Text feature.</a:t>
            </a:r>
          </a:p>
        </p:txBody>
      </p:sp>
      <p:sp>
        <p:nvSpPr>
          <p:cNvPr id="9" name="Rectangle 8"/>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1" name="TextBox 10"/>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Evaluation Time — Long Answer</a:t>
            </a:r>
          </a:p>
          <a:p>
            <a:pPr algn="l">
              <a:lnSpc>
                <a:spcPct val="105000"/>
              </a:lnSpc>
              <a:spcBef>
                <a:spcPts val="200"/>
              </a:spcBef>
              <a:spcAft>
                <a:spcPts val="0"/>
              </a:spcAft>
            </a:pPr>
            <a:r>
              <a:rPr sz="1500" b="0" i="1">
                <a:solidFill>
                  <a:srgbClr val="E6EFF7"/>
                </a:solidFill>
                <a:latin typeface="Calibri"/>
              </a:rPr>
              <a:t>3. Long Answer Type Questions • Page 43</a:t>
            </a:r>
          </a:p>
        </p:txBody>
      </p:sp>
      <p:sp>
        <p:nvSpPr>
          <p:cNvPr id="5" name="Rounded Rectangle 4"/>
          <p:cNvSpPr/>
          <p:nvPr/>
        </p:nvSpPr>
        <p:spPr>
          <a:xfrm>
            <a:off x="548640" y="155448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10820095" cy="411480"/>
          </a:xfrm>
          <a:prstGeom prst="rect">
            <a:avLst/>
          </a:prstGeom>
          <a:noFill/>
        </p:spPr>
        <p:txBody>
          <a:bodyPr wrap="square" anchor="ctr" lIns="76200" rIns="76200" tIns="50800" bIns="50800">
            <a:spAutoFit/>
          </a:bodyPr>
          <a:lstStyle/>
          <a:p>
            <a:pPr>
              <a:lnSpc>
                <a:spcPct val="100000"/>
              </a:lnSpc>
            </a:pPr>
            <a:r>
              <a:rPr sz="2200" b="1">
                <a:solidFill>
                  <a:srgbClr val="ED7D31"/>
                </a:solidFill>
                <a:latin typeface="Calibri"/>
              </a:rPr>
              <a:t>a.  </a:t>
            </a:r>
            <a:r>
              <a:rPr sz="2200" b="1">
                <a:solidFill>
                  <a:srgbClr val="1F3864"/>
                </a:solidFill>
                <a:latin typeface="Calibri"/>
              </a:rPr>
              <a:t>Write the steps to wrap the text in a cell.</a:t>
            </a:r>
          </a:p>
        </p:txBody>
      </p:sp>
      <p:sp>
        <p:nvSpPr>
          <p:cNvPr id="7" name="Rounded Rectangle 6"/>
          <p:cNvSpPr/>
          <p:nvPr/>
        </p:nvSpPr>
        <p:spPr>
          <a:xfrm>
            <a:off x="777240" y="2130552"/>
            <a:ext cx="10865815" cy="1892808"/>
          </a:xfrm>
          <a:prstGeom prst="roundRect">
            <a:avLst>
              <a:gd name="adj" fmla="val 10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76272"/>
            <a:ext cx="10408615" cy="1801368"/>
          </a:xfrm>
          <a:prstGeom prst="rect">
            <a:avLst/>
          </a:prstGeom>
          <a:noFill/>
        </p:spPr>
        <p:txBody>
          <a:bodyPr wrap="square" anchor="t" lIns="76200" rIns="76200" tIns="50800" bIns="50800">
            <a:spAutoFit/>
          </a:bodyPr>
          <a:lstStyle/>
          <a:p>
            <a:pPr>
              <a:lnSpc>
                <a:spcPct val="103000"/>
              </a:lnSpc>
              <a:spcAft>
                <a:spcPts val="400"/>
              </a:spcAft>
            </a:pPr>
            <a:r>
              <a:rPr sz="2000" b="1">
                <a:solidFill>
                  <a:srgbClr val="1B5E20"/>
                </a:solidFill>
                <a:latin typeface="Calibri"/>
              </a:rPr>
              <a:t>✅ Answer: </a:t>
            </a:r>
            <a:r>
              <a:rPr sz="2000" b="1">
                <a:solidFill>
                  <a:srgbClr val="2E7D32"/>
                </a:solidFill>
                <a:latin typeface="Calibri"/>
              </a:rPr>
              <a:t>To wrap text inside a cell, follow these simple steps:</a:t>
            </a:r>
          </a:p>
          <a:p>
            <a:pPr algn="l">
              <a:lnSpc>
                <a:spcPct val="103000"/>
              </a:lnSpc>
              <a:spcBef>
                <a:spcPts val="200"/>
              </a:spcBef>
              <a:spcAft>
                <a:spcPts val="200"/>
              </a:spcAft>
            </a:pPr>
            <a:r>
              <a:rPr sz="2000" b="0" i="0">
                <a:solidFill>
                  <a:srgbClr val="2E7D32"/>
                </a:solidFill>
                <a:latin typeface="Calibri"/>
              </a:rPr>
              <a:t>✔  Click on the cell containing the text you want to wrap.</a:t>
            </a:r>
          </a:p>
          <a:p>
            <a:pPr algn="l">
              <a:lnSpc>
                <a:spcPct val="103000"/>
              </a:lnSpc>
              <a:spcBef>
                <a:spcPts val="200"/>
              </a:spcBef>
              <a:spcAft>
                <a:spcPts val="200"/>
              </a:spcAft>
            </a:pPr>
            <a:r>
              <a:rPr sz="2000" b="0" i="0">
                <a:solidFill>
                  <a:srgbClr val="2E7D32"/>
                </a:solidFill>
                <a:latin typeface="Calibri"/>
              </a:rPr>
              <a:t>✔  Go to the Home tab.</a:t>
            </a:r>
          </a:p>
          <a:p>
            <a:pPr algn="l">
              <a:lnSpc>
                <a:spcPct val="103000"/>
              </a:lnSpc>
              <a:spcBef>
                <a:spcPts val="200"/>
              </a:spcBef>
              <a:spcAft>
                <a:spcPts val="200"/>
              </a:spcAft>
            </a:pPr>
            <a:r>
              <a:rPr sz="2000" b="0" i="0">
                <a:solidFill>
                  <a:srgbClr val="2E7D32"/>
                </a:solidFill>
                <a:latin typeface="Calibri"/>
              </a:rPr>
              <a:t>✔  Click on the Wrap Text command in the Alignment group.</a:t>
            </a:r>
          </a:p>
        </p:txBody>
      </p:sp>
      <p:sp>
        <p:nvSpPr>
          <p:cNvPr id="9" name="Rectangle 8"/>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1" name="TextBox 10"/>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Evaluation Time — Long Answer</a:t>
            </a:r>
          </a:p>
          <a:p>
            <a:pPr algn="l">
              <a:lnSpc>
                <a:spcPct val="105000"/>
              </a:lnSpc>
              <a:spcBef>
                <a:spcPts val="200"/>
              </a:spcBef>
              <a:spcAft>
                <a:spcPts val="0"/>
              </a:spcAft>
            </a:pPr>
            <a:r>
              <a:rPr sz="1500" b="0" i="1">
                <a:solidFill>
                  <a:srgbClr val="E6EFF7"/>
                </a:solidFill>
                <a:latin typeface="Calibri"/>
              </a:rPr>
              <a:t>3. Long Answer Type Questions • Page 43</a:t>
            </a:r>
          </a:p>
        </p:txBody>
      </p:sp>
      <p:sp>
        <p:nvSpPr>
          <p:cNvPr id="5" name="Rounded Rectangle 4"/>
          <p:cNvSpPr/>
          <p:nvPr/>
        </p:nvSpPr>
        <p:spPr>
          <a:xfrm>
            <a:off x="548640" y="155448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10820095" cy="411480"/>
          </a:xfrm>
          <a:prstGeom prst="rect">
            <a:avLst/>
          </a:prstGeom>
          <a:noFill/>
        </p:spPr>
        <p:txBody>
          <a:bodyPr wrap="square" anchor="ctr" lIns="76200" rIns="76200" tIns="50800" bIns="50800">
            <a:spAutoFit/>
          </a:bodyPr>
          <a:lstStyle/>
          <a:p>
            <a:pPr>
              <a:lnSpc>
                <a:spcPct val="100000"/>
              </a:lnSpc>
            </a:pPr>
            <a:r>
              <a:rPr sz="2200" b="1">
                <a:solidFill>
                  <a:srgbClr val="ED7D31"/>
                </a:solidFill>
                <a:latin typeface="Calibri"/>
              </a:rPr>
              <a:t>b.  </a:t>
            </a:r>
            <a:r>
              <a:rPr sz="2200" b="1">
                <a:solidFill>
                  <a:srgbClr val="1F3864"/>
                </a:solidFill>
                <a:latin typeface="Calibri"/>
              </a:rPr>
              <a:t>How will you change the row height and column width?</a:t>
            </a:r>
          </a:p>
        </p:txBody>
      </p:sp>
      <p:sp>
        <p:nvSpPr>
          <p:cNvPr id="7" name="Rounded Rectangle 6"/>
          <p:cNvSpPr/>
          <p:nvPr/>
        </p:nvSpPr>
        <p:spPr>
          <a:xfrm>
            <a:off x="777240" y="2130552"/>
            <a:ext cx="10865815" cy="2313432"/>
          </a:xfrm>
          <a:prstGeom prst="roundRect">
            <a:avLst>
              <a:gd name="adj" fmla="val 10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76272"/>
            <a:ext cx="10408615" cy="2221992"/>
          </a:xfrm>
          <a:prstGeom prst="rect">
            <a:avLst/>
          </a:prstGeom>
          <a:noFill/>
        </p:spPr>
        <p:txBody>
          <a:bodyPr wrap="square" anchor="t" lIns="76200" rIns="76200" tIns="50800" bIns="50800">
            <a:spAutoFit/>
          </a:bodyPr>
          <a:lstStyle/>
          <a:p>
            <a:pPr>
              <a:lnSpc>
                <a:spcPct val="103000"/>
              </a:lnSpc>
              <a:spcAft>
                <a:spcPts val="400"/>
              </a:spcAft>
            </a:pPr>
            <a:r>
              <a:rPr sz="1900" b="1">
                <a:solidFill>
                  <a:srgbClr val="1B5E20"/>
                </a:solidFill>
                <a:latin typeface="Calibri"/>
              </a:rPr>
              <a:t>✅ Answer: </a:t>
            </a:r>
            <a:r>
              <a:rPr sz="1900" b="1">
                <a:solidFill>
                  <a:srgbClr val="2E7D32"/>
                </a:solidFill>
                <a:latin typeface="Calibri"/>
              </a:rPr>
              <a:t>You can change them by following these steps:</a:t>
            </a:r>
          </a:p>
          <a:p>
            <a:pPr algn="l">
              <a:lnSpc>
                <a:spcPct val="103000"/>
              </a:lnSpc>
              <a:spcBef>
                <a:spcPts val="200"/>
              </a:spcBef>
              <a:spcAft>
                <a:spcPts val="200"/>
              </a:spcAft>
            </a:pPr>
            <a:r>
              <a:rPr sz="1900" b="0" i="0">
                <a:solidFill>
                  <a:srgbClr val="2E7D32"/>
                </a:solidFill>
                <a:latin typeface="Calibri"/>
              </a:rPr>
              <a:t>✔  Select the rows or columns that you want to change.</a:t>
            </a:r>
          </a:p>
          <a:p>
            <a:pPr algn="l">
              <a:lnSpc>
                <a:spcPct val="103000"/>
              </a:lnSpc>
              <a:spcBef>
                <a:spcPts val="200"/>
              </a:spcBef>
              <a:spcAft>
                <a:spcPts val="200"/>
              </a:spcAft>
            </a:pPr>
            <a:r>
              <a:rPr sz="1900" b="0" i="0">
                <a:solidFill>
                  <a:srgbClr val="2E7D32"/>
                </a:solidFill>
                <a:latin typeface="Calibri"/>
              </a:rPr>
              <a:t>✔  Go to the Home tab and click on the Format command in the Cells group.</a:t>
            </a:r>
          </a:p>
          <a:p>
            <a:pPr algn="l">
              <a:lnSpc>
                <a:spcPct val="103000"/>
              </a:lnSpc>
              <a:spcBef>
                <a:spcPts val="200"/>
              </a:spcBef>
              <a:spcAft>
                <a:spcPts val="200"/>
              </a:spcAft>
            </a:pPr>
            <a:r>
              <a:rPr sz="1900" b="0" i="0">
                <a:solidFill>
                  <a:srgbClr val="2E7D32"/>
                </a:solidFill>
                <a:latin typeface="Calibri"/>
              </a:rPr>
              <a:t>✔  From the drop-down menu, choose Row Height or Column Width.</a:t>
            </a:r>
          </a:p>
          <a:p>
            <a:pPr algn="l">
              <a:lnSpc>
                <a:spcPct val="103000"/>
              </a:lnSpc>
              <a:spcBef>
                <a:spcPts val="200"/>
              </a:spcBef>
              <a:spcAft>
                <a:spcPts val="200"/>
              </a:spcAft>
            </a:pPr>
            <a:r>
              <a:rPr sz="1900" b="0" i="0">
                <a:solidFill>
                  <a:srgbClr val="2E7D32"/>
                </a:solidFill>
                <a:latin typeface="Calibri"/>
              </a:rPr>
              <a:t>✔  Type the number you want in the box and click OK.</a:t>
            </a:r>
          </a:p>
        </p:txBody>
      </p:sp>
      <p:sp>
        <p:nvSpPr>
          <p:cNvPr id="9" name="Rectangle 8"/>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1" name="TextBox 10"/>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2E7D32"/>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Evaluation Time — Long Answer</a:t>
            </a:r>
          </a:p>
          <a:p>
            <a:pPr algn="l">
              <a:lnSpc>
                <a:spcPct val="105000"/>
              </a:lnSpc>
              <a:spcBef>
                <a:spcPts val="200"/>
              </a:spcBef>
              <a:spcAft>
                <a:spcPts val="0"/>
              </a:spcAft>
            </a:pPr>
            <a:r>
              <a:rPr sz="1500" b="0" i="1">
                <a:solidFill>
                  <a:srgbClr val="E6EFF7"/>
                </a:solidFill>
                <a:latin typeface="Calibri"/>
              </a:rPr>
              <a:t>3. Long Answer Type Questions • Page 43</a:t>
            </a:r>
          </a:p>
        </p:txBody>
      </p:sp>
      <p:sp>
        <p:nvSpPr>
          <p:cNvPr id="5" name="Rounded Rectangle 4"/>
          <p:cNvSpPr/>
          <p:nvPr/>
        </p:nvSpPr>
        <p:spPr>
          <a:xfrm>
            <a:off x="548640" y="1554480"/>
            <a:ext cx="11094415" cy="411480"/>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10820095" cy="411480"/>
          </a:xfrm>
          <a:prstGeom prst="rect">
            <a:avLst/>
          </a:prstGeom>
          <a:noFill/>
        </p:spPr>
        <p:txBody>
          <a:bodyPr wrap="square" anchor="ctr" lIns="76200" rIns="76200" tIns="50800" bIns="50800">
            <a:spAutoFit/>
          </a:bodyPr>
          <a:lstStyle/>
          <a:p>
            <a:pPr>
              <a:lnSpc>
                <a:spcPct val="100000"/>
              </a:lnSpc>
            </a:pPr>
            <a:r>
              <a:rPr sz="2200" b="1">
                <a:solidFill>
                  <a:srgbClr val="ED7D31"/>
                </a:solidFill>
                <a:latin typeface="Calibri"/>
              </a:rPr>
              <a:t>c.  </a:t>
            </a:r>
            <a:r>
              <a:rPr sz="2200" b="1">
                <a:solidFill>
                  <a:srgbClr val="1F3864"/>
                </a:solidFill>
                <a:latin typeface="Calibri"/>
              </a:rPr>
              <a:t>How will you apply cell borders?</a:t>
            </a:r>
          </a:p>
        </p:txBody>
      </p:sp>
      <p:sp>
        <p:nvSpPr>
          <p:cNvPr id="7" name="Rounded Rectangle 6"/>
          <p:cNvSpPr/>
          <p:nvPr/>
        </p:nvSpPr>
        <p:spPr>
          <a:xfrm>
            <a:off x="777240" y="2130552"/>
            <a:ext cx="10865815" cy="2313432"/>
          </a:xfrm>
          <a:prstGeom prst="roundRect">
            <a:avLst>
              <a:gd name="adj" fmla="val 10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76272"/>
            <a:ext cx="10408615" cy="2221992"/>
          </a:xfrm>
          <a:prstGeom prst="rect">
            <a:avLst/>
          </a:prstGeom>
          <a:noFill/>
        </p:spPr>
        <p:txBody>
          <a:bodyPr wrap="square" anchor="t" lIns="76200" rIns="76200" tIns="50800" bIns="50800">
            <a:spAutoFit/>
          </a:bodyPr>
          <a:lstStyle/>
          <a:p>
            <a:pPr>
              <a:lnSpc>
                <a:spcPct val="103000"/>
              </a:lnSpc>
              <a:spcAft>
                <a:spcPts val="400"/>
              </a:spcAft>
            </a:pPr>
            <a:r>
              <a:rPr sz="1900" b="1">
                <a:solidFill>
                  <a:srgbClr val="1B5E20"/>
                </a:solidFill>
                <a:latin typeface="Calibri"/>
              </a:rPr>
              <a:t>✅ Answer: </a:t>
            </a:r>
            <a:r>
              <a:rPr sz="1900" b="1">
                <a:solidFill>
                  <a:srgbClr val="2E7D32"/>
                </a:solidFill>
                <a:latin typeface="Calibri"/>
              </a:rPr>
              <a:t>To add a border around your cells:</a:t>
            </a:r>
          </a:p>
          <a:p>
            <a:pPr algn="l">
              <a:lnSpc>
                <a:spcPct val="103000"/>
              </a:lnSpc>
              <a:spcBef>
                <a:spcPts val="200"/>
              </a:spcBef>
              <a:spcAft>
                <a:spcPts val="200"/>
              </a:spcAft>
            </a:pPr>
            <a:r>
              <a:rPr sz="1900" b="0" i="0">
                <a:solidFill>
                  <a:srgbClr val="2E7D32"/>
                </a:solidFill>
                <a:latin typeface="Calibri"/>
              </a:rPr>
              <a:t>✔  Select the cells where you want to add a border.</a:t>
            </a:r>
          </a:p>
          <a:p>
            <a:pPr algn="l">
              <a:lnSpc>
                <a:spcPct val="103000"/>
              </a:lnSpc>
              <a:spcBef>
                <a:spcPts val="200"/>
              </a:spcBef>
              <a:spcAft>
                <a:spcPts val="200"/>
              </a:spcAft>
            </a:pPr>
            <a:r>
              <a:rPr sz="1900" b="0" i="0">
                <a:solidFill>
                  <a:srgbClr val="2E7D32"/>
                </a:solidFill>
                <a:latin typeface="Calibri"/>
              </a:rPr>
              <a:t>✔  Go to the Home tab and look for the Font group.</a:t>
            </a:r>
          </a:p>
          <a:p>
            <a:pPr algn="l">
              <a:lnSpc>
                <a:spcPct val="103000"/>
              </a:lnSpc>
              <a:spcBef>
                <a:spcPts val="200"/>
              </a:spcBef>
              <a:spcAft>
                <a:spcPts val="200"/>
              </a:spcAft>
            </a:pPr>
            <a:r>
              <a:rPr sz="1900" b="0" i="0">
                <a:solidFill>
                  <a:srgbClr val="2E7D32"/>
                </a:solidFill>
                <a:latin typeface="Calibri"/>
              </a:rPr>
              <a:t>✔  Click the small arrow next to the Borders command.</a:t>
            </a:r>
          </a:p>
          <a:p>
            <a:pPr algn="l">
              <a:lnSpc>
                <a:spcPct val="103000"/>
              </a:lnSpc>
              <a:spcBef>
                <a:spcPts val="200"/>
              </a:spcBef>
              <a:spcAft>
                <a:spcPts val="200"/>
              </a:spcAft>
            </a:pPr>
            <a:r>
              <a:rPr sz="1900" b="0" i="0">
                <a:solidFill>
                  <a:srgbClr val="2E7D32"/>
                </a:solidFill>
                <a:latin typeface="Calibri"/>
              </a:rPr>
              <a:t>✔  Select a border style (like All Borders) from the list.</a:t>
            </a:r>
          </a:p>
        </p:txBody>
      </p:sp>
      <p:sp>
        <p:nvSpPr>
          <p:cNvPr id="9" name="Rectangle 8"/>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1" name="TextBox 10"/>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ED7D31"/>
              </a:gs>
              <a:gs pos="100000">
                <a:srgbClr val="F09B3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4" name="TextBox 3"/>
          <p:cNvSpPr txBox="1"/>
          <p:nvPr/>
        </p:nvSpPr>
        <p:spPr>
          <a:xfrm>
            <a:off x="10698480" y="82296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400" b="0" i="0">
                <a:solidFill>
                  <a:srgbClr val="FFFFFF"/>
                </a:solidFill>
                <a:latin typeface="Calibri"/>
              </a:rPr>
              <a:t>📊</a:t>
            </a:r>
          </a:p>
        </p:txBody>
      </p:sp>
      <p:sp>
        <p:nvSpPr>
          <p:cNvPr id="5" name="TextBox 4"/>
          <p:cNvSpPr txBox="1"/>
          <p:nvPr/>
        </p:nvSpPr>
        <p:spPr>
          <a:xfrm>
            <a:off x="1280160" y="521208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6" name="TextBox 5"/>
          <p:cNvSpPr txBox="1"/>
          <p:nvPr/>
        </p:nvSpPr>
        <p:spPr>
          <a:xfrm>
            <a:off x="10241280" y="5120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7" name="TextBox 6"/>
          <p:cNvSpPr txBox="1"/>
          <p:nvPr/>
        </p:nvSpPr>
        <p:spPr>
          <a:xfrm>
            <a:off x="5669280" y="457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FFFFFF"/>
                </a:solidFill>
                <a:latin typeface="Calibri"/>
              </a:rPr>
              <a:t>💡</a:t>
            </a:r>
          </a:p>
        </p:txBody>
      </p:sp>
      <p:sp>
        <p:nvSpPr>
          <p:cNvPr id="8" name="TextBox 7"/>
          <p:cNvSpPr txBox="1"/>
          <p:nvPr/>
        </p:nvSpPr>
        <p:spPr>
          <a:xfrm>
            <a:off x="9144000" y="292608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FFFFFF"/>
                </a:solidFill>
                <a:latin typeface="Calibri"/>
              </a:rPr>
              <a:t>🎯</a:t>
            </a:r>
          </a:p>
        </p:txBody>
      </p:sp>
      <p:sp>
        <p:nvSpPr>
          <p:cNvPr id="9" name="TextBox 8"/>
          <p:cNvSpPr txBox="1"/>
          <p:nvPr/>
        </p:nvSpPr>
        <p:spPr>
          <a:xfrm>
            <a:off x="2377440" y="2743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000" b="0" i="0">
                <a:solidFill>
                  <a:srgbClr val="FFFFFF"/>
                </a:solidFill>
                <a:latin typeface="Calibri"/>
              </a:rPr>
              <a:t>📊</a:t>
            </a:r>
          </a:p>
        </p:txBody>
      </p:sp>
      <p:sp>
        <p:nvSpPr>
          <p:cNvPr id="10" name="Rounded Rectangle 9"/>
          <p:cNvSpPr/>
          <p:nvPr/>
        </p:nvSpPr>
        <p:spPr>
          <a:xfrm>
            <a:off x="2194560" y="1965960"/>
            <a:ext cx="7772400" cy="2926080"/>
          </a:xfrm>
          <a:prstGeom prst="roundRect">
            <a:avLst>
              <a:gd name="adj" fmla="val 10000"/>
            </a:avLst>
          </a:prstGeom>
          <a:solidFill>
            <a:srgbClr val="FFFFFF"/>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1965960"/>
            <a:ext cx="7223760" cy="2926080"/>
          </a:xfrm>
          <a:prstGeom prst="rect">
            <a:avLst/>
          </a:prstGeom>
          <a:noFill/>
        </p:spPr>
        <p:txBody>
          <a:bodyPr wrap="square" anchor="ctr" lIns="76200" rIns="76200" tIns="50800" bIns="50800">
            <a:spAutoFit/>
          </a:bodyPr>
          <a:lstStyle/>
          <a:p>
            <a:pPr algn="ctr">
              <a:lnSpc>
                <a:spcPct val="105000"/>
              </a:lnSpc>
              <a:spcBef>
                <a:spcPts val="0"/>
              </a:spcBef>
              <a:spcAft>
                <a:spcPts val="200"/>
              </a:spcAft>
            </a:pPr>
            <a:r>
              <a:rPr sz="6000" b="0" i="0">
                <a:solidFill>
                  <a:srgbClr val="ED7D31"/>
                </a:solidFill>
                <a:latin typeface="Calibri"/>
              </a:rPr>
              <a:t>🎯</a:t>
            </a:r>
          </a:p>
          <a:p>
            <a:pPr algn="ctr">
              <a:lnSpc>
                <a:spcPct val="105000"/>
              </a:lnSpc>
              <a:spcBef>
                <a:spcPts val="0"/>
              </a:spcBef>
              <a:spcAft>
                <a:spcPts val="600"/>
              </a:spcAft>
            </a:pPr>
            <a:r>
              <a:rPr sz="4400" b="1" i="0">
                <a:solidFill>
                  <a:srgbClr val="1F3864"/>
                </a:solidFill>
                <a:latin typeface="Calibri Light"/>
              </a:rPr>
              <a:t>Competency-Based Questions</a:t>
            </a:r>
          </a:p>
          <a:p>
            <a:pPr algn="ctr">
              <a:lnSpc>
                <a:spcPct val="105000"/>
              </a:lnSpc>
              <a:spcBef>
                <a:spcPts val="0"/>
              </a:spcBef>
              <a:spcAft>
                <a:spcPts val="400"/>
              </a:spcAft>
            </a:pPr>
            <a:r>
              <a:rPr sz="2000" b="1" i="1">
                <a:solidFill>
                  <a:srgbClr val="F09B3E"/>
                </a:solidFill>
                <a:latin typeface="Calibri"/>
              </a:rPr>
              <a:t>Application-Based  •  Page 43</a:t>
            </a:r>
          </a:p>
        </p:txBody>
      </p:sp>
      <p:sp>
        <p:nvSpPr>
          <p:cNvPr id="12" name="Rectangle 11"/>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4" name="TextBox 13"/>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ED7D31"/>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Competency-Based / Application-Based</a:t>
            </a:r>
          </a:p>
          <a:p>
            <a:pPr algn="l">
              <a:lnSpc>
                <a:spcPct val="105000"/>
              </a:lnSpc>
              <a:spcBef>
                <a:spcPts val="200"/>
              </a:spcBef>
              <a:spcAft>
                <a:spcPts val="0"/>
              </a:spcAft>
            </a:pPr>
            <a:r>
              <a:rPr sz="1500" b="0" i="1">
                <a:solidFill>
                  <a:srgbClr val="E6EFF7"/>
                </a:solidFill>
                <a:latin typeface="Calibri"/>
              </a:rPr>
              <a:t>4. Competency-Based / Application-Based Questions • Page 43</a:t>
            </a:r>
          </a:p>
        </p:txBody>
      </p:sp>
      <p:sp>
        <p:nvSpPr>
          <p:cNvPr id="5" name="Rounded Rectangle 4"/>
          <p:cNvSpPr/>
          <p:nvPr/>
        </p:nvSpPr>
        <p:spPr>
          <a:xfrm>
            <a:off x="548640" y="1554480"/>
            <a:ext cx="11094415" cy="722376"/>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10820095" cy="722376"/>
          </a:xfrm>
          <a:prstGeom prst="rect">
            <a:avLst/>
          </a:prstGeom>
          <a:noFill/>
        </p:spPr>
        <p:txBody>
          <a:bodyPr wrap="square" anchor="ctr" lIns="76200" rIns="76200" tIns="50800" bIns="50800">
            <a:spAutoFit/>
          </a:bodyPr>
          <a:lstStyle/>
          <a:p>
            <a:pPr>
              <a:lnSpc>
                <a:spcPct val="100000"/>
              </a:lnSpc>
            </a:pPr>
            <a:r>
              <a:rPr sz="2100" b="1">
                <a:solidFill>
                  <a:srgbClr val="ED7D31"/>
                </a:solidFill>
                <a:latin typeface="Calibri"/>
              </a:rPr>
              <a:t>a.  </a:t>
            </a:r>
            <a:r>
              <a:rPr sz="2100" b="1">
                <a:solidFill>
                  <a:srgbClr val="1F3864"/>
                </a:solidFill>
                <a:latin typeface="Calibri"/>
              </a:rPr>
              <a:t>Sonia is preparing project details in a spreadsheet. Some text in a cell is too long and gets hidden when she types text in the adjacent cell on the right. How can she change this?</a:t>
            </a:r>
          </a:p>
        </p:txBody>
      </p:sp>
      <p:sp>
        <p:nvSpPr>
          <p:cNvPr id="7" name="Rounded Rectangle 6"/>
          <p:cNvSpPr/>
          <p:nvPr/>
        </p:nvSpPr>
        <p:spPr>
          <a:xfrm>
            <a:off x="777240" y="2441448"/>
            <a:ext cx="10865815" cy="1472184"/>
          </a:xfrm>
          <a:prstGeom prst="roundRect">
            <a:avLst>
              <a:gd name="adj" fmla="val 10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87168"/>
            <a:ext cx="10408615" cy="1380744"/>
          </a:xfrm>
          <a:prstGeom prst="rect">
            <a:avLst/>
          </a:prstGeom>
          <a:noFill/>
        </p:spPr>
        <p:txBody>
          <a:bodyPr wrap="square" anchor="t" lIns="76200" rIns="76200" tIns="50800" bIns="50800">
            <a:spAutoFit/>
          </a:bodyPr>
          <a:lstStyle/>
          <a:p>
            <a:pPr>
              <a:lnSpc>
                <a:spcPct val="103000"/>
              </a:lnSpc>
              <a:spcAft>
                <a:spcPts val="400"/>
              </a:spcAft>
            </a:pPr>
            <a:r>
              <a:rPr sz="1900" b="1">
                <a:solidFill>
                  <a:srgbClr val="1B5E20"/>
                </a:solidFill>
                <a:latin typeface="Calibri"/>
              </a:rPr>
              <a:t>✅ Answer: </a:t>
            </a:r>
            <a:r>
              <a:rPr sz="1900" b="1">
                <a:solidFill>
                  <a:srgbClr val="2E7D32"/>
                </a:solidFill>
                <a:latin typeface="Calibri"/>
              </a:rPr>
              <a:t>Sonia can solve this in two easy ways:</a:t>
            </a:r>
          </a:p>
          <a:p>
            <a:pPr algn="l">
              <a:lnSpc>
                <a:spcPct val="103000"/>
              </a:lnSpc>
              <a:spcBef>
                <a:spcPts val="200"/>
              </a:spcBef>
              <a:spcAft>
                <a:spcPts val="200"/>
              </a:spcAft>
            </a:pPr>
            <a:r>
              <a:rPr sz="1900" b="0" i="0">
                <a:solidFill>
                  <a:srgbClr val="2E7D32"/>
                </a:solidFill>
                <a:latin typeface="Calibri"/>
              </a:rPr>
              <a:t>✔  She can use the Wrap Text feature to show the text in multiple lines inside the same cell.</a:t>
            </a:r>
          </a:p>
          <a:p>
            <a:pPr algn="l">
              <a:lnSpc>
                <a:spcPct val="103000"/>
              </a:lnSpc>
              <a:spcBef>
                <a:spcPts val="200"/>
              </a:spcBef>
              <a:spcAft>
                <a:spcPts val="200"/>
              </a:spcAft>
            </a:pPr>
            <a:r>
              <a:rPr sz="1900" b="0" i="0">
                <a:solidFill>
                  <a:srgbClr val="2E7D32"/>
                </a:solidFill>
                <a:latin typeface="Calibri"/>
              </a:rPr>
              <a:t>✔  She can increase the Column Width so that all the text fits in one line.</a:t>
            </a:r>
          </a:p>
        </p:txBody>
      </p:sp>
      <p:sp>
        <p:nvSpPr>
          <p:cNvPr id="9" name="Rectangle 8"/>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1" name="TextBox 10"/>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EBF3F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320040"/>
            <a:ext cx="11368735" cy="932688"/>
          </a:xfrm>
          <a:prstGeom prst="roundRect">
            <a:avLst>
              <a:gd name="adj" fmla="val 28000"/>
            </a:avLst>
          </a:prstGeom>
          <a:solidFill>
            <a:srgbClr val="ED7D31"/>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0820095" cy="93268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2700" b="1" i="0">
                <a:solidFill>
                  <a:srgbClr val="FFFFFF"/>
                </a:solidFill>
                <a:latin typeface="Calibri Light"/>
              </a:rPr>
              <a:t>🎯  Competency-Based / Application-Based</a:t>
            </a:r>
          </a:p>
          <a:p>
            <a:pPr algn="l">
              <a:lnSpc>
                <a:spcPct val="105000"/>
              </a:lnSpc>
              <a:spcBef>
                <a:spcPts val="200"/>
              </a:spcBef>
              <a:spcAft>
                <a:spcPts val="0"/>
              </a:spcAft>
            </a:pPr>
            <a:r>
              <a:rPr sz="1500" b="0" i="1">
                <a:solidFill>
                  <a:srgbClr val="E6EFF7"/>
                </a:solidFill>
                <a:latin typeface="Calibri"/>
              </a:rPr>
              <a:t>4. Competency-Based / Application-Based Questions • Page 43</a:t>
            </a:r>
          </a:p>
        </p:txBody>
      </p:sp>
      <p:sp>
        <p:nvSpPr>
          <p:cNvPr id="5" name="Rounded Rectangle 4"/>
          <p:cNvSpPr/>
          <p:nvPr/>
        </p:nvSpPr>
        <p:spPr>
          <a:xfrm>
            <a:off x="548640" y="1554480"/>
            <a:ext cx="11094415" cy="722376"/>
          </a:xfrm>
          <a:prstGeom prst="roundRect">
            <a:avLst>
              <a:gd name="adj" fmla="val 16000"/>
            </a:avLst>
          </a:prstGeom>
          <a:solidFill>
            <a:srgbClr val="EAF2FB"/>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10820095" cy="722376"/>
          </a:xfrm>
          <a:prstGeom prst="rect">
            <a:avLst/>
          </a:prstGeom>
          <a:noFill/>
        </p:spPr>
        <p:txBody>
          <a:bodyPr wrap="square" anchor="ctr" lIns="76200" rIns="76200" tIns="50800" bIns="50800">
            <a:spAutoFit/>
          </a:bodyPr>
          <a:lstStyle/>
          <a:p>
            <a:pPr>
              <a:lnSpc>
                <a:spcPct val="100000"/>
              </a:lnSpc>
            </a:pPr>
            <a:r>
              <a:rPr sz="2100" b="1">
                <a:solidFill>
                  <a:srgbClr val="ED7D31"/>
                </a:solidFill>
                <a:latin typeface="Calibri"/>
              </a:rPr>
              <a:t>b.  </a:t>
            </a:r>
            <a:r>
              <a:rPr sz="2100" b="1">
                <a:solidFill>
                  <a:srgbClr val="1F3864"/>
                </a:solidFill>
                <a:latin typeface="Calibri"/>
              </a:rPr>
              <a:t>Anaya has prepared marksheet of her class. She realised that she has forgotten to enter marks of one subject. How can she create space in the marksheet to enter those marks?</a:t>
            </a:r>
          </a:p>
        </p:txBody>
      </p:sp>
      <p:sp>
        <p:nvSpPr>
          <p:cNvPr id="7" name="Rounded Rectangle 6"/>
          <p:cNvSpPr/>
          <p:nvPr/>
        </p:nvSpPr>
        <p:spPr>
          <a:xfrm>
            <a:off x="777240" y="2441448"/>
            <a:ext cx="10865815" cy="749808"/>
          </a:xfrm>
          <a:prstGeom prst="roundRect">
            <a:avLst>
              <a:gd name="adj" fmla="val 18000"/>
            </a:avLst>
          </a:prstGeom>
          <a:solidFill>
            <a:srgbClr val="E7F6E9"/>
          </a:solidFill>
          <a:ln w="22225">
            <a:solidFill>
              <a:srgbClr val="4CAF50"/>
            </a:solid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41448"/>
            <a:ext cx="10500055" cy="749808"/>
          </a:xfrm>
          <a:prstGeom prst="rect">
            <a:avLst/>
          </a:prstGeom>
          <a:noFill/>
        </p:spPr>
        <p:txBody>
          <a:bodyPr wrap="square" anchor="ctr" lIns="76200" rIns="76200" tIns="50800" bIns="50800">
            <a:spAutoFit/>
          </a:bodyPr>
          <a:lstStyle/>
          <a:p>
            <a:pPr>
              <a:lnSpc>
                <a:spcPct val="102000"/>
              </a:lnSpc>
            </a:pPr>
            <a:r>
              <a:rPr sz="1900" b="1">
                <a:solidFill>
                  <a:srgbClr val="2E7D32"/>
                </a:solidFill>
                <a:latin typeface="Calibri"/>
              </a:rPr>
              <a:t>✅ Answer: </a:t>
            </a:r>
            <a:r>
              <a:rPr sz="1900" b="1">
                <a:solidFill>
                  <a:srgbClr val="2E7D32"/>
                </a:solidFill>
                <a:latin typeface="Calibri"/>
              </a:rPr>
              <a:t>Anaya can insert a new column for the forgotten subject. To do this, she should select the column next to where she wants to add the marks, click on the Insert command on the Home tab, and choose Insert Sheet Columns.</a:t>
            </a:r>
          </a:p>
        </p:txBody>
      </p:sp>
      <p:sp>
        <p:nvSpPr>
          <p:cNvPr id="9" name="Rectangle 8"/>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1" name="TextBox 10"/>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animEffect transition="in" filter="fade">
                                      <p:cBhvr>
                                        <p:cTn id="6" dur="500"/>
                                        <p:tgtEl>
                                          <p:spTgt spid="5"/>
                                        </p:tgtEl>
                                      </p:cBhvr>
                                    </p:animEffect>
                                    <p:set>
                                      <p:cBhvr>
                                        <p:cTn id="7" dur="1" fill="hold">
                                          <p:stCondLst>
                                            <p:cond delay="0"/>
                                          </p:stCondLst>
                                        </p:cTn>
                                        <p:tgtEl>
                                          <p:spTgt spid="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animEffect transition="in" filter="fade">
                                      <p:cBhvr>
                                        <p:cTn id="11" dur="500"/>
                                        <p:tgtEl>
                                          <p:spTgt spid="7"/>
                                        </p:tgtEl>
                                      </p:cBhvr>
                                    </p:animEffec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E7D32"/>
              </a:gs>
              <a:gs pos="100000">
                <a:srgbClr val="2E75B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4" name="TextBox 3"/>
          <p:cNvSpPr txBox="1"/>
          <p:nvPr/>
        </p:nvSpPr>
        <p:spPr>
          <a:xfrm>
            <a:off x="10424160" y="9144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400" b="0" i="0">
                <a:solidFill>
                  <a:srgbClr val="FFFFFF"/>
                </a:solidFill>
                <a:latin typeface="Calibri"/>
              </a:rPr>
              <a:t>📈</a:t>
            </a:r>
          </a:p>
        </p:txBody>
      </p:sp>
      <p:sp>
        <p:nvSpPr>
          <p:cNvPr id="5" name="TextBox 4"/>
          <p:cNvSpPr txBox="1"/>
          <p:nvPr/>
        </p:nvSpPr>
        <p:spPr>
          <a:xfrm>
            <a:off x="1463040" y="5120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000" b="0" i="0">
                <a:solidFill>
                  <a:srgbClr val="FFFFFF"/>
                </a:solidFill>
                <a:latin typeface="Calibri"/>
              </a:rPr>
              <a:t>🧮</a:t>
            </a:r>
          </a:p>
        </p:txBody>
      </p:sp>
      <p:sp>
        <p:nvSpPr>
          <p:cNvPr id="6" name="TextBox 5"/>
          <p:cNvSpPr txBox="1"/>
          <p:nvPr/>
        </p:nvSpPr>
        <p:spPr>
          <a:xfrm>
            <a:off x="10058400" y="512064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4200" b="0" i="0">
                <a:solidFill>
                  <a:srgbClr val="FFFFFF"/>
                </a:solidFill>
                <a:latin typeface="Calibri"/>
              </a:rPr>
              <a:t>📝</a:t>
            </a:r>
          </a:p>
        </p:txBody>
      </p:sp>
      <p:sp>
        <p:nvSpPr>
          <p:cNvPr id="7" name="TextBox 6"/>
          <p:cNvSpPr txBox="1"/>
          <p:nvPr/>
        </p:nvSpPr>
        <p:spPr>
          <a:xfrm>
            <a:off x="5760720" y="457200"/>
            <a:ext cx="822960" cy="822960"/>
          </a:xfrm>
          <a:prstGeom prst="rect">
            <a:avLst/>
          </a:prstGeom>
          <a:noFill/>
        </p:spPr>
        <p:txBody>
          <a:bodyPr wrap="square" anchor="ctr" lIns="76200" rIns="76200" tIns="50800" bIns="50800">
            <a:spAutoFit/>
          </a:bodyPr>
          <a:lstStyle/>
          <a:p>
            <a:pPr algn="ctr">
              <a:lnSpc>
                <a:spcPct val="105000"/>
              </a:lnSpc>
              <a:spcBef>
                <a:spcPts val="0"/>
              </a:spcBef>
              <a:spcAft>
                <a:spcPts val="0"/>
              </a:spcAft>
            </a:pPr>
            <a:r>
              <a:rPr sz="3400" b="0" i="0">
                <a:solidFill>
                  <a:srgbClr val="FFFFFF"/>
                </a:solidFill>
                <a:latin typeface="Calibri"/>
              </a:rPr>
              <a:t>🎓</a:t>
            </a:r>
          </a:p>
        </p:txBody>
      </p:sp>
      <p:sp>
        <p:nvSpPr>
          <p:cNvPr id="8" name="Rounded Rectangle 7"/>
          <p:cNvSpPr/>
          <p:nvPr/>
        </p:nvSpPr>
        <p:spPr>
          <a:xfrm>
            <a:off x="2651760" y="2103120"/>
            <a:ext cx="6858000" cy="2651760"/>
          </a:xfrm>
          <a:prstGeom prst="roundRect">
            <a:avLst>
              <a:gd name="adj" fmla="val 12000"/>
            </a:avLst>
          </a:prstGeom>
          <a:solidFill>
            <a:srgbClr val="FFFFFF"/>
          </a:solidFill>
          <a:ln>
            <a:noFill/>
          </a:ln>
          <a:effectLst>
            <a:outerShdw blurRad="100000" dist="45000" dir="5400000" rotWithShape="0">
              <a:srgbClr val="3A4A5A">
                <a:alpha val="3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2103120"/>
            <a:ext cx="6492240" cy="2651760"/>
          </a:xfrm>
          <a:prstGeom prst="rect">
            <a:avLst/>
          </a:prstGeom>
          <a:noFill/>
        </p:spPr>
        <p:txBody>
          <a:bodyPr wrap="square" anchor="ctr" lIns="76200" rIns="76200" tIns="50800" bIns="50800">
            <a:spAutoFit/>
          </a:bodyPr>
          <a:lstStyle/>
          <a:p>
            <a:pPr algn="ctr">
              <a:lnSpc>
                <a:spcPct val="105000"/>
              </a:lnSpc>
              <a:spcBef>
                <a:spcPts val="0"/>
              </a:spcBef>
              <a:spcAft>
                <a:spcPts val="600"/>
              </a:spcAft>
            </a:pPr>
            <a:r>
              <a:rPr sz="4600" b="1" i="0">
                <a:solidFill>
                  <a:srgbClr val="1F3864"/>
                </a:solidFill>
                <a:latin typeface="Calibri Light"/>
              </a:rPr>
              <a:t>🌟  Great Work!</a:t>
            </a:r>
          </a:p>
          <a:p>
            <a:pPr algn="ctr">
              <a:lnSpc>
                <a:spcPct val="105000"/>
              </a:lnSpc>
              <a:spcBef>
                <a:spcPts val="0"/>
              </a:spcBef>
              <a:spcAft>
                <a:spcPts val="400"/>
              </a:spcAft>
            </a:pPr>
            <a:r>
              <a:rPr sz="2200" b="1" i="0">
                <a:solidFill>
                  <a:srgbClr val="2E7D32"/>
                </a:solidFill>
                <a:latin typeface="Calibri"/>
              </a:rPr>
              <a:t>You have completed Chapter 3 – More on Excel</a:t>
            </a:r>
          </a:p>
          <a:p>
            <a:pPr algn="ctr">
              <a:lnSpc>
                <a:spcPct val="105000"/>
              </a:lnSpc>
              <a:spcBef>
                <a:spcPts val="0"/>
              </a:spcBef>
              <a:spcAft>
                <a:spcPts val="400"/>
              </a:spcAft>
            </a:pPr>
            <a:r>
              <a:rPr sz="1800" b="0" i="1">
                <a:solidFill>
                  <a:srgbClr val="2E75B6"/>
                </a:solidFill>
                <a:latin typeface="Calibri"/>
              </a:rPr>
              <a:t>Keep practising your spreadsheet skills!</a:t>
            </a:r>
          </a:p>
        </p:txBody>
      </p:sp>
      <p:sp>
        <p:nvSpPr>
          <p:cNvPr id="10" name="Rectangle 9"/>
          <p:cNvSpPr/>
          <p:nvPr/>
        </p:nvSpPr>
        <p:spPr>
          <a:xfrm>
            <a:off x="0" y="6473952"/>
            <a:ext cx="12191695" cy="384048"/>
          </a:xfrm>
          <a:prstGeom prst="rect">
            <a:avLst/>
          </a:prstGeom>
          <a:gradFill rotWithShape="1">
            <a:gsLst>
              <a:gs pos="0">
                <a:srgbClr val="2E75B6"/>
              </a:gs>
              <a:gs pos="100000">
                <a:srgbClr val="2E7D3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6473952"/>
            <a:ext cx="7772400" cy="384048"/>
          </a:xfrm>
          <a:prstGeom prst="rect">
            <a:avLst/>
          </a:prstGeom>
          <a:noFill/>
        </p:spPr>
        <p:txBody>
          <a:bodyPr wrap="square" anchor="ctr" lIns="76200" rIns="76200" tIns="50800" bIns="50800">
            <a:spAutoFit/>
          </a:bodyPr>
          <a:lstStyle/>
          <a:p>
            <a:pPr algn="l">
              <a:lnSpc>
                <a:spcPct val="105000"/>
              </a:lnSpc>
              <a:spcBef>
                <a:spcPts val="0"/>
              </a:spcBef>
              <a:spcAft>
                <a:spcPts val="0"/>
              </a:spcAft>
            </a:pPr>
            <a:r>
              <a:rPr sz="1100" b="1" i="0">
                <a:solidFill>
                  <a:srgbClr val="FFFFFF"/>
                </a:solidFill>
                <a:latin typeface="Calibri"/>
              </a:rPr>
              <a:t>Chapter 3 • More on Excel   |  </a:t>
            </a:r>
          </a:p>
        </p:txBody>
      </p:sp>
      <p:sp>
        <p:nvSpPr>
          <p:cNvPr id="12" name="TextBox 11"/>
          <p:cNvSpPr txBox="1"/>
          <p:nvPr/>
        </p:nvSpPr>
        <p:spPr>
          <a:xfrm>
            <a:off x="9997135" y="6473952"/>
            <a:ext cx="1874519" cy="384048"/>
          </a:xfrm>
          <a:prstGeom prst="rect">
            <a:avLst/>
          </a:prstGeom>
          <a:noFill/>
        </p:spPr>
        <p:txBody>
          <a:bodyPr wrap="square" anchor="ctr" lIns="76200" rIns="76200" tIns="50800" bIns="50800">
            <a:spAutoFit/>
          </a:bodyPr>
          <a:lstStyle/>
          <a:p>
            <a:pPr algn="r">
              <a:lnSpc>
                <a:spcPct val="105000"/>
              </a:lnSpc>
              <a:spcBef>
                <a:spcPts val="0"/>
              </a:spcBef>
              <a:spcAft>
                <a:spcPts val="0"/>
              </a:spcAft>
            </a:pPr>
            <a:r>
              <a:rPr sz="1100" b="1" i="0">
                <a:solidFill>
                  <a:srgbClr val="FFFFFF"/>
                </a:solidFill>
                <a:latin typeface="Calibri"/>
              </a:rPr>
              <a:t>Page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